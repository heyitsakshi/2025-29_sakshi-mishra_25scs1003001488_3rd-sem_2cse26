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0F2E5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7556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F2E5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7556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15500" y="257175"/>
            <a:ext cx="2047874" cy="2190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625" y="2225724"/>
            <a:ext cx="5581649" cy="298355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81725" y="2225724"/>
            <a:ext cx="5581649" cy="298355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8625" y="6429375"/>
            <a:ext cx="11334749" cy="228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F2E5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F2E5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5925" y="548102"/>
            <a:ext cx="7238365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0F2E5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6900" y="2539585"/>
            <a:ext cx="5021580" cy="1733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7556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2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24.png"/><Relationship Id="rId10" Type="http://schemas.openxmlformats.org/officeDocument/2006/relationships/image" Target="../media/image5.png"/><Relationship Id="rId19" Type="http://schemas.openxmlformats.org/officeDocument/2006/relationships/image" Target="../media/image28.jp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28.jp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18" Type="http://schemas.openxmlformats.org/officeDocument/2006/relationships/image" Target="../media/image51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17" Type="http://schemas.openxmlformats.org/officeDocument/2006/relationships/image" Target="../media/image50.png"/><Relationship Id="rId2" Type="http://schemas.openxmlformats.org/officeDocument/2006/relationships/image" Target="../media/image37.png"/><Relationship Id="rId16" Type="http://schemas.openxmlformats.org/officeDocument/2006/relationships/image" Target="../media/image49.png"/><Relationship Id="rId20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5.png"/><Relationship Id="rId5" Type="http://schemas.openxmlformats.org/officeDocument/2006/relationships/image" Target="../media/image40.png"/><Relationship Id="rId15" Type="http://schemas.openxmlformats.org/officeDocument/2006/relationships/image" Target="../media/image48.png"/><Relationship Id="rId10" Type="http://schemas.openxmlformats.org/officeDocument/2006/relationships/image" Target="../media/image45.png"/><Relationship Id="rId19" Type="http://schemas.openxmlformats.org/officeDocument/2006/relationships/image" Target="../media/image52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8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7.png"/><Relationship Id="rId2" Type="http://schemas.openxmlformats.org/officeDocument/2006/relationships/image" Target="../media/image53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5.png"/><Relationship Id="rId10" Type="http://schemas.openxmlformats.org/officeDocument/2006/relationships/image" Target="../media/image61.png"/><Relationship Id="rId19" Type="http://schemas.openxmlformats.org/officeDocument/2006/relationships/image" Target="../media/image28.jp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70.png"/><Relationship Id="rId7" Type="http://schemas.openxmlformats.org/officeDocument/2006/relationships/image" Target="../media/image5.png"/><Relationship Id="rId12" Type="http://schemas.openxmlformats.org/officeDocument/2006/relationships/image" Target="../media/image7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5" Type="http://schemas.openxmlformats.org/officeDocument/2006/relationships/image" Target="../media/image72.png"/><Relationship Id="rId15" Type="http://schemas.openxmlformats.org/officeDocument/2006/relationships/image" Target="../media/image28.jp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jpg"/><Relationship Id="rId4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1.png"/><Relationship Id="rId18" Type="http://schemas.openxmlformats.org/officeDocument/2006/relationships/image" Target="../media/image28.jp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image" Target="../media/image81.png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89.png"/><Relationship Id="rId5" Type="http://schemas.openxmlformats.org/officeDocument/2006/relationships/image" Target="../media/image84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3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7.png"/><Relationship Id="rId7" Type="http://schemas.openxmlformats.org/officeDocument/2006/relationships/image" Target="../media/image1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5.png"/><Relationship Id="rId10" Type="http://schemas.openxmlformats.org/officeDocument/2006/relationships/image" Target="../media/image28.jpg"/><Relationship Id="rId4" Type="http://schemas.openxmlformats.org/officeDocument/2006/relationships/image" Target="../media/image98.png"/><Relationship Id="rId9" Type="http://schemas.openxmlformats.org/officeDocument/2006/relationships/image" Target="../media/image10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2.png"/><Relationship Id="rId3" Type="http://schemas.openxmlformats.org/officeDocument/2006/relationships/image" Target="../media/image104.png"/><Relationship Id="rId7" Type="http://schemas.openxmlformats.org/officeDocument/2006/relationships/image" Target="../media/image5.png"/><Relationship Id="rId12" Type="http://schemas.openxmlformats.org/officeDocument/2006/relationships/image" Target="../media/image111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0.png"/><Relationship Id="rId5" Type="http://schemas.openxmlformats.org/officeDocument/2006/relationships/image" Target="../media/image106.png"/><Relationship Id="rId15" Type="http://schemas.openxmlformats.org/officeDocument/2006/relationships/image" Target="../media/image28.jpg"/><Relationship Id="rId10" Type="http://schemas.openxmlformats.org/officeDocument/2006/relationships/image" Target="../media/image109.png"/><Relationship Id="rId4" Type="http://schemas.openxmlformats.org/officeDocument/2006/relationships/image" Target="../media/image105.png"/><Relationship Id="rId9" Type="http://schemas.openxmlformats.org/officeDocument/2006/relationships/image" Target="../media/image99.png"/><Relationship Id="rId14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7400" y="257175"/>
              <a:ext cx="2085974" cy="2190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0525" y="2235696"/>
              <a:ext cx="3790949" cy="2381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9900" y="4212728"/>
              <a:ext cx="6172199" cy="5524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625" y="6429375"/>
              <a:ext cx="11334749" cy="2285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47376" y="274764"/>
            <a:ext cx="21621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10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8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r>
              <a:rPr sz="950" b="1" spc="-20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210" dirty="0">
                <a:solidFill>
                  <a:srgbClr val="0368A1"/>
                </a:solidFill>
                <a:latin typeface="Tahoma"/>
                <a:cs typeface="Tahoma"/>
              </a:rPr>
              <a:t>•</a:t>
            </a:r>
            <a:r>
              <a:rPr sz="950" b="1" spc="-10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85" dirty="0">
                <a:solidFill>
                  <a:srgbClr val="0368A1"/>
                </a:solidFill>
                <a:latin typeface="Tahoma"/>
                <a:cs typeface="Tahoma"/>
              </a:rPr>
              <a:t>DATA</a:t>
            </a:r>
            <a:r>
              <a:rPr sz="950" b="1" spc="-20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65" dirty="0">
                <a:solidFill>
                  <a:srgbClr val="0368A1"/>
                </a:solidFill>
                <a:latin typeface="Tahoma"/>
                <a:cs typeface="Tahoma"/>
              </a:rPr>
              <a:t>SCIENCE</a:t>
            </a:r>
            <a:r>
              <a:rPr sz="950" b="1" spc="-10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25" dirty="0">
                <a:solidFill>
                  <a:srgbClr val="0368A1"/>
                </a:solidFill>
                <a:latin typeface="Tahoma"/>
                <a:cs typeface="Tahoma"/>
              </a:rPr>
              <a:t>LAB</a:t>
            </a:r>
            <a:endParaRPr sz="9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925" y="6498021"/>
            <a:ext cx="251460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Prodigy</a:t>
            </a:r>
            <a:r>
              <a:rPr sz="850" spc="-114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64738B"/>
                </a:solidFill>
                <a:latin typeface="Verdana"/>
                <a:cs typeface="Verdana"/>
              </a:rPr>
              <a:t>InfoTech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5" dirty="0">
                <a:solidFill>
                  <a:srgbClr val="64738B"/>
                </a:solidFill>
                <a:latin typeface="Verdana"/>
                <a:cs typeface="Verdana"/>
              </a:rPr>
              <a:t>Internship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Project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Presentation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7425" y="6498021"/>
            <a:ext cx="283718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solidFill>
                  <a:srgbClr val="0F172A"/>
                </a:solidFill>
                <a:latin typeface="Tahoma"/>
                <a:cs typeface="Tahoma"/>
              </a:rPr>
              <a:t>Academic</a:t>
            </a:r>
            <a:r>
              <a:rPr sz="850" b="1" spc="-6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850" b="1" spc="-40" dirty="0">
                <a:solidFill>
                  <a:srgbClr val="0F172A"/>
                </a:solidFill>
                <a:latin typeface="Tahoma"/>
                <a:cs typeface="Tahoma"/>
              </a:rPr>
              <a:t>Year:</a:t>
            </a:r>
            <a:r>
              <a:rPr sz="850" b="1" spc="-6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850" b="1" dirty="0">
                <a:solidFill>
                  <a:srgbClr val="0F172A"/>
                </a:solidFill>
                <a:latin typeface="Tahoma"/>
                <a:cs typeface="Tahoma"/>
              </a:rPr>
              <a:t>2026</a:t>
            </a:r>
            <a:r>
              <a:rPr sz="850" b="1" spc="-8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•</a:t>
            </a:r>
            <a:r>
              <a:rPr sz="850" spc="-12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b="1" spc="-25" dirty="0">
                <a:solidFill>
                  <a:srgbClr val="0F172A"/>
                </a:solidFill>
                <a:latin typeface="Tahoma"/>
                <a:cs typeface="Tahoma"/>
              </a:rPr>
              <a:t>Domain:</a:t>
            </a:r>
            <a:r>
              <a:rPr sz="850" b="1" spc="-6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850" b="1" dirty="0">
                <a:solidFill>
                  <a:srgbClr val="0F172A"/>
                </a:solidFill>
                <a:latin typeface="Tahoma"/>
                <a:cs typeface="Tahoma"/>
              </a:rPr>
              <a:t>Applied</a:t>
            </a:r>
            <a:r>
              <a:rPr sz="850" b="1" spc="-6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850" b="1" spc="-20" dirty="0">
                <a:solidFill>
                  <a:srgbClr val="0F172A"/>
                </a:solidFill>
                <a:latin typeface="Tahoma"/>
                <a:cs typeface="Tahoma"/>
              </a:rPr>
              <a:t>Data</a:t>
            </a:r>
            <a:r>
              <a:rPr sz="850" b="1" spc="-6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850" b="1" spc="-10" dirty="0">
                <a:solidFill>
                  <a:srgbClr val="0F172A"/>
                </a:solidFill>
                <a:latin typeface="Tahoma"/>
                <a:cs typeface="Tahoma"/>
              </a:rPr>
              <a:t>Science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01225" y="311942"/>
            <a:ext cx="114299" cy="101111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4898882" y="2502753"/>
            <a:ext cx="5681980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209">
              <a:lnSpc>
                <a:spcPct val="120000"/>
              </a:lnSpc>
              <a:spcBef>
                <a:spcPts val="100"/>
              </a:spcBef>
            </a:pPr>
            <a:r>
              <a:rPr sz="2850" spc="-80" dirty="0"/>
              <a:t>Customer</a:t>
            </a:r>
            <a:r>
              <a:rPr sz="2850" spc="-130" dirty="0"/>
              <a:t> </a:t>
            </a:r>
            <a:r>
              <a:rPr sz="2850" spc="-50" dirty="0"/>
              <a:t>Purchase</a:t>
            </a:r>
            <a:r>
              <a:rPr sz="2850" spc="-130" dirty="0"/>
              <a:t> </a:t>
            </a:r>
            <a:r>
              <a:rPr sz="2850" spc="-45" dirty="0"/>
              <a:t>Prediction</a:t>
            </a:r>
            <a:r>
              <a:rPr sz="2850" spc="-130" dirty="0"/>
              <a:t> </a:t>
            </a:r>
            <a:r>
              <a:rPr sz="2850" spc="-610" dirty="0"/>
              <a:t>&amp; </a:t>
            </a:r>
            <a:r>
              <a:rPr sz="2850" spc="-35" dirty="0"/>
              <a:t>Social</a:t>
            </a:r>
            <a:r>
              <a:rPr sz="2850" spc="-110" dirty="0"/>
              <a:t> </a:t>
            </a:r>
            <a:r>
              <a:rPr sz="2850" spc="-50" dirty="0"/>
              <a:t>Media</a:t>
            </a:r>
            <a:r>
              <a:rPr sz="2850" spc="-105" dirty="0"/>
              <a:t> </a:t>
            </a:r>
            <a:r>
              <a:rPr sz="2850" spc="-75" dirty="0"/>
              <a:t>Sentiment</a:t>
            </a:r>
            <a:r>
              <a:rPr sz="2850" spc="-140" dirty="0"/>
              <a:t> </a:t>
            </a:r>
            <a:r>
              <a:rPr sz="2850" spc="-25" dirty="0"/>
              <a:t>Analysis</a:t>
            </a:r>
            <a:endParaRPr sz="2850"/>
          </a:p>
        </p:txBody>
      </p:sp>
      <p:sp>
        <p:nvSpPr>
          <p:cNvPr id="13" name="object 13"/>
          <p:cNvSpPr txBox="1"/>
          <p:nvPr/>
        </p:nvSpPr>
        <p:spPr>
          <a:xfrm>
            <a:off x="2315498" y="3519613"/>
            <a:ext cx="7566025" cy="5213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4475" marR="5080" indent="-2772410">
              <a:lnSpc>
                <a:spcPct val="141500"/>
              </a:lnSpc>
              <a:spcBef>
                <a:spcPts val="95"/>
              </a:spcBef>
            </a:pPr>
            <a:r>
              <a:rPr sz="1150" dirty="0">
                <a:solidFill>
                  <a:srgbClr val="475568"/>
                </a:solidFill>
                <a:latin typeface="Verdana"/>
                <a:cs typeface="Verdana"/>
              </a:rPr>
              <a:t>End-to-end</a:t>
            </a:r>
            <a:r>
              <a:rPr sz="11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30" dirty="0">
                <a:solidFill>
                  <a:srgbClr val="475568"/>
                </a:solidFill>
                <a:latin typeface="Verdana"/>
                <a:cs typeface="Verdana"/>
              </a:rPr>
              <a:t>implementation</a:t>
            </a:r>
            <a:r>
              <a:rPr sz="11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dirty="0">
                <a:solidFill>
                  <a:srgbClr val="475568"/>
                </a:solidFill>
                <a:latin typeface="Verdana"/>
                <a:cs typeface="Verdana"/>
              </a:rPr>
              <a:t>of</a:t>
            </a:r>
            <a:r>
              <a:rPr sz="11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20" dirty="0">
                <a:solidFill>
                  <a:srgbClr val="475568"/>
                </a:solidFill>
                <a:latin typeface="Verdana"/>
                <a:cs typeface="Verdana"/>
              </a:rPr>
              <a:t>supervised</a:t>
            </a:r>
            <a:r>
              <a:rPr sz="1150" spc="-1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20" dirty="0">
                <a:solidFill>
                  <a:srgbClr val="475568"/>
                </a:solidFill>
                <a:latin typeface="Verdana"/>
                <a:cs typeface="Verdana"/>
              </a:rPr>
              <a:t>tree</a:t>
            </a:r>
            <a:r>
              <a:rPr sz="11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475568"/>
                </a:solidFill>
                <a:latin typeface="Verdana"/>
                <a:cs typeface="Verdana"/>
              </a:rPr>
              <a:t>classification</a:t>
            </a:r>
            <a:r>
              <a:rPr sz="11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70" dirty="0">
                <a:solidFill>
                  <a:srgbClr val="475568"/>
                </a:solidFill>
                <a:latin typeface="Verdana"/>
                <a:cs typeface="Verdana"/>
              </a:rPr>
              <a:t>(CART</a:t>
            </a:r>
            <a:r>
              <a:rPr sz="11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50" dirty="0">
                <a:solidFill>
                  <a:srgbClr val="475568"/>
                </a:solidFill>
                <a:latin typeface="Verdana"/>
                <a:cs typeface="Verdana"/>
              </a:rPr>
              <a:t>algorithm)</a:t>
            </a:r>
            <a:r>
              <a:rPr sz="1150" spc="-1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11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20" dirty="0">
                <a:solidFill>
                  <a:srgbClr val="475568"/>
                </a:solidFill>
                <a:latin typeface="Verdana"/>
                <a:cs typeface="Verdana"/>
              </a:rPr>
              <a:t>automated</a:t>
            </a:r>
            <a:r>
              <a:rPr sz="11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dirty="0">
                <a:solidFill>
                  <a:srgbClr val="475568"/>
                </a:solidFill>
                <a:latin typeface="Verdana"/>
                <a:cs typeface="Verdana"/>
              </a:rPr>
              <a:t>NLP</a:t>
            </a:r>
            <a:r>
              <a:rPr sz="1150" spc="-1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475568"/>
                </a:solidFill>
                <a:latin typeface="Verdana"/>
                <a:cs typeface="Verdana"/>
              </a:rPr>
              <a:t>sentiment </a:t>
            </a:r>
            <a:r>
              <a:rPr sz="1150" spc="-30" dirty="0">
                <a:solidFill>
                  <a:srgbClr val="475568"/>
                </a:solidFill>
                <a:latin typeface="Verdana"/>
                <a:cs typeface="Verdana"/>
              </a:rPr>
              <a:t>polarity</a:t>
            </a:r>
            <a:r>
              <a:rPr sz="1150" spc="-17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45" dirty="0">
                <a:solidFill>
                  <a:srgbClr val="475568"/>
                </a:solidFill>
                <a:latin typeface="Verdana"/>
                <a:cs typeface="Verdana"/>
              </a:rPr>
              <a:t>mining</a:t>
            </a:r>
            <a:r>
              <a:rPr sz="1150" spc="-16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30" dirty="0">
                <a:solidFill>
                  <a:srgbClr val="475568"/>
                </a:solidFill>
                <a:latin typeface="Verdana"/>
                <a:cs typeface="Verdana"/>
              </a:rPr>
              <a:t>using</a:t>
            </a:r>
            <a:r>
              <a:rPr sz="1150" spc="-17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475568"/>
                </a:solidFill>
                <a:latin typeface="Verdana"/>
                <a:cs typeface="Verdana"/>
              </a:rPr>
              <a:t>Python.</a:t>
            </a:r>
            <a:endParaRPr sz="11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3202" y="530828"/>
            <a:ext cx="5678170" cy="4091940"/>
            <a:chOff x="523202" y="530828"/>
            <a:chExt cx="5678170" cy="4091940"/>
          </a:xfrm>
        </p:grpSpPr>
        <p:sp>
          <p:nvSpPr>
            <p:cNvPr id="15" name="object 15"/>
            <p:cNvSpPr/>
            <p:nvPr/>
          </p:nvSpPr>
          <p:spPr>
            <a:xfrm>
              <a:off x="4505325" y="4355604"/>
              <a:ext cx="1695450" cy="266700"/>
            </a:xfrm>
            <a:custGeom>
              <a:avLst/>
              <a:gdLst/>
              <a:ahLst/>
              <a:cxnLst/>
              <a:rect l="l" t="t" r="r" b="b"/>
              <a:pathLst>
                <a:path w="1695450" h="266700">
                  <a:moveTo>
                    <a:pt x="952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0"/>
                  </a:lnTo>
                  <a:close/>
                </a:path>
                <a:path w="1695450" h="266700">
                  <a:moveTo>
                    <a:pt x="1695450" y="0"/>
                  </a:moveTo>
                  <a:lnTo>
                    <a:pt x="1685925" y="0"/>
                  </a:lnTo>
                  <a:lnTo>
                    <a:pt x="1685925" y="266700"/>
                  </a:lnTo>
                  <a:lnTo>
                    <a:pt x="1695450" y="266700"/>
                  </a:lnTo>
                  <a:lnTo>
                    <a:pt x="1695450" y="0"/>
                  </a:lnTo>
                  <a:close/>
                </a:path>
              </a:pathLst>
            </a:custGeom>
            <a:solidFill>
              <a:srgbClr val="CB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202" y="530828"/>
              <a:ext cx="2989387" cy="298938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292475" y="4299852"/>
            <a:ext cx="866775" cy="34163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CANDIDATE</a:t>
            </a:r>
            <a:r>
              <a:rPr sz="750" b="1" spc="-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spc="-20" dirty="0">
                <a:solidFill>
                  <a:srgbClr val="64738B"/>
                </a:solidFill>
                <a:latin typeface="Courier New"/>
                <a:cs typeface="Courier New"/>
              </a:rPr>
              <a:t>NAME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b="1" spc="-95" dirty="0">
                <a:solidFill>
                  <a:srgbClr val="0F2E5A"/>
                </a:solidFill>
                <a:latin typeface="Verdana"/>
                <a:cs typeface="Verdana"/>
              </a:rPr>
              <a:t>Sakshi</a:t>
            </a:r>
            <a:r>
              <a:rPr sz="1000" b="1" spc="-114" dirty="0">
                <a:solidFill>
                  <a:srgbClr val="0F2E5A"/>
                </a:solidFill>
                <a:latin typeface="Verdana"/>
                <a:cs typeface="Verdana"/>
              </a:rPr>
              <a:t> </a:t>
            </a:r>
            <a:r>
              <a:rPr sz="1000" b="1" spc="-75" dirty="0">
                <a:solidFill>
                  <a:srgbClr val="0F2E5A"/>
                </a:solidFill>
                <a:latin typeface="Verdana"/>
                <a:cs typeface="Verdana"/>
              </a:rPr>
              <a:t>Mishra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32175" y="4299854"/>
            <a:ext cx="1182370" cy="34163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254"/>
              </a:spcBef>
            </a:pP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ENROLLMENT</a:t>
            </a:r>
            <a:r>
              <a:rPr sz="750" b="1" spc="-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spc="-25" dirty="0">
                <a:solidFill>
                  <a:srgbClr val="64738B"/>
                </a:solidFill>
                <a:latin typeface="Courier New"/>
                <a:cs typeface="Courier New"/>
              </a:rPr>
              <a:t>NO.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00" b="1" spc="-10" dirty="0">
                <a:solidFill>
                  <a:srgbClr val="0284C7"/>
                </a:solidFill>
                <a:latin typeface="Courier New"/>
                <a:cs typeface="Courier New"/>
              </a:rPr>
              <a:t>25SCS1003001488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54775" y="4299852"/>
            <a:ext cx="2099310" cy="49593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DEGREE</a:t>
            </a:r>
            <a:r>
              <a:rPr sz="750" b="1" spc="-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&amp;</a:t>
            </a:r>
            <a:r>
              <a:rPr sz="750" b="1" spc="-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spc="-10" dirty="0">
                <a:solidFill>
                  <a:srgbClr val="64738B"/>
                </a:solidFill>
                <a:latin typeface="Courier New"/>
                <a:cs typeface="Courier New"/>
              </a:rPr>
              <a:t>INSTITUTION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1200"/>
              </a:lnSpc>
              <a:spcBef>
                <a:spcPts val="215"/>
              </a:spcBef>
            </a:pPr>
            <a:r>
              <a:rPr sz="1000" b="1" spc="-75" dirty="0">
                <a:solidFill>
                  <a:srgbClr val="0F2E5A"/>
                </a:solidFill>
                <a:latin typeface="Verdana"/>
                <a:cs typeface="Verdana"/>
              </a:rPr>
              <a:t>B.Tech</a:t>
            </a:r>
            <a:r>
              <a:rPr sz="1000" b="1" spc="-145" dirty="0">
                <a:solidFill>
                  <a:srgbClr val="0F2E5A"/>
                </a:solidFill>
                <a:latin typeface="Verdana"/>
                <a:cs typeface="Verdana"/>
              </a:rPr>
              <a:t> </a:t>
            </a:r>
            <a:r>
              <a:rPr sz="1000" b="1" spc="-35" dirty="0">
                <a:solidFill>
                  <a:srgbClr val="0F2E5A"/>
                </a:solidFill>
                <a:latin typeface="Verdana"/>
                <a:cs typeface="Verdana"/>
              </a:rPr>
              <a:t>CSE</a:t>
            </a:r>
            <a:r>
              <a:rPr sz="1000" b="1" spc="-140" dirty="0">
                <a:solidFill>
                  <a:srgbClr val="0F2E5A"/>
                </a:solidFill>
                <a:latin typeface="Verdana"/>
                <a:cs typeface="Verdana"/>
              </a:rPr>
              <a:t> </a:t>
            </a:r>
            <a:r>
              <a:rPr sz="1000" b="1" spc="-105" dirty="0">
                <a:solidFill>
                  <a:srgbClr val="0F2E5A"/>
                </a:solidFill>
                <a:latin typeface="Verdana"/>
                <a:cs typeface="Verdana"/>
              </a:rPr>
              <a:t>(Sem</a:t>
            </a:r>
            <a:r>
              <a:rPr sz="1000" b="1" spc="-145" dirty="0">
                <a:solidFill>
                  <a:srgbClr val="0F2E5A"/>
                </a:solidFill>
                <a:latin typeface="Verdana"/>
                <a:cs typeface="Verdana"/>
              </a:rPr>
              <a:t> </a:t>
            </a:r>
            <a:r>
              <a:rPr sz="1000" b="1" spc="-125" dirty="0">
                <a:solidFill>
                  <a:srgbClr val="0F2E5A"/>
                </a:solidFill>
                <a:latin typeface="Verdana"/>
                <a:cs typeface="Verdana"/>
              </a:rPr>
              <a:t>3)</a:t>
            </a:r>
            <a:r>
              <a:rPr sz="1000" b="1" spc="-145" dirty="0">
                <a:solidFill>
                  <a:srgbClr val="0F2E5A"/>
                </a:solidFill>
                <a:latin typeface="Verdana"/>
                <a:cs typeface="Verdana"/>
              </a:rPr>
              <a:t> |</a:t>
            </a:r>
            <a:r>
              <a:rPr sz="1000" b="1" spc="-140" dirty="0">
                <a:solidFill>
                  <a:srgbClr val="0F2E5A"/>
                </a:solidFill>
                <a:latin typeface="Verdana"/>
                <a:cs typeface="Verdana"/>
              </a:rPr>
              <a:t> </a:t>
            </a:r>
            <a:r>
              <a:rPr sz="1000" b="1" spc="-175" dirty="0">
                <a:solidFill>
                  <a:srgbClr val="0F2E5A"/>
                </a:solidFill>
                <a:latin typeface="Verdana"/>
                <a:cs typeface="Verdana"/>
              </a:rPr>
              <a:t>IILM</a:t>
            </a:r>
            <a:r>
              <a:rPr sz="1000" b="1" spc="-145" dirty="0">
                <a:solidFill>
                  <a:srgbClr val="0F2E5A"/>
                </a:solidFill>
                <a:latin typeface="Verdana"/>
                <a:cs typeface="Verdana"/>
              </a:rPr>
              <a:t> </a:t>
            </a:r>
            <a:r>
              <a:rPr sz="1000" b="1" spc="-65" dirty="0">
                <a:solidFill>
                  <a:srgbClr val="0F2E5A"/>
                </a:solidFill>
                <a:latin typeface="Verdana"/>
                <a:cs typeface="Verdana"/>
              </a:rPr>
              <a:t>Greater </a:t>
            </a:r>
            <a:r>
              <a:rPr sz="1000" b="1" spc="-10" dirty="0">
                <a:solidFill>
                  <a:srgbClr val="0F2E5A"/>
                </a:solidFill>
                <a:latin typeface="Verdana"/>
                <a:cs typeface="Verdana"/>
              </a:rPr>
              <a:t>Noida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8900" y="257175"/>
            <a:ext cx="1514474" cy="219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" y="2434679"/>
            <a:ext cx="2733674" cy="17180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5650" y="2434679"/>
            <a:ext cx="2733674" cy="17180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2675" y="2434679"/>
            <a:ext cx="2733674" cy="17180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29700" y="2434679"/>
            <a:ext cx="2733674" cy="17180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8625" y="4267051"/>
            <a:ext cx="2747961" cy="6191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90887" y="4267051"/>
            <a:ext cx="2747961" cy="619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53150" y="4267051"/>
            <a:ext cx="2747961" cy="6191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15411" y="4267051"/>
            <a:ext cx="2747962" cy="6191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8625" y="6429375"/>
            <a:ext cx="11334749" cy="2285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47376" y="274764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35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925" y="6498021"/>
            <a:ext cx="833119" cy="288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95"/>
              </a:spcBef>
            </a:pP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Slide</a:t>
            </a:r>
            <a:r>
              <a:rPr sz="850" spc="-15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2</a:t>
            </a:r>
            <a:r>
              <a:rPr sz="850" spc="-14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|</a:t>
            </a:r>
            <a:r>
              <a:rPr sz="850" spc="-14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System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Overview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9525" y="6498021"/>
            <a:ext cx="15830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85" dirty="0">
                <a:solidFill>
                  <a:srgbClr val="64738B"/>
                </a:solidFill>
                <a:latin typeface="Verdana"/>
                <a:cs typeface="Verdana"/>
              </a:rPr>
              <a:t>IILM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64738B"/>
                </a:solidFill>
                <a:latin typeface="Verdana"/>
                <a:cs typeface="Verdana"/>
              </a:rPr>
              <a:t>University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•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Greater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Noida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9600" y="2596604"/>
            <a:ext cx="342899" cy="3428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96900" y="2942276"/>
            <a:ext cx="2310765" cy="113347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45900"/>
              </a:lnSpc>
              <a:spcBef>
                <a:spcPts val="60"/>
              </a:spcBef>
            </a:pP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Track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95" dirty="0">
                <a:solidFill>
                  <a:srgbClr val="0F2E5A"/>
                </a:solidFill>
                <a:latin typeface="Tahoma"/>
                <a:cs typeface="Tahoma"/>
              </a:rPr>
              <a:t>01:</a:t>
            </a:r>
            <a:r>
              <a:rPr sz="1150" b="1" spc="-1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Supervised</a:t>
            </a:r>
            <a:r>
              <a:rPr sz="1150" b="1" spc="-1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ML </a:t>
            </a:r>
            <a:r>
              <a:rPr sz="950" b="1" spc="-60" dirty="0">
                <a:solidFill>
                  <a:srgbClr val="475568"/>
                </a:solidFill>
                <a:latin typeface="Verdana"/>
                <a:cs typeface="Verdana"/>
              </a:rPr>
              <a:t>Predictive</a:t>
            </a:r>
            <a:r>
              <a:rPr sz="950" b="1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55" dirty="0">
                <a:solidFill>
                  <a:srgbClr val="475568"/>
                </a:solidFill>
                <a:latin typeface="Verdana"/>
                <a:cs typeface="Verdana"/>
              </a:rPr>
              <a:t>Modeling:</a:t>
            </a:r>
            <a:r>
              <a:rPr sz="950" b="1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CART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Decision 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Tree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to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forecast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customer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term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deposit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subscriptions</a:t>
            </a:r>
            <a:r>
              <a:rPr sz="950" spc="-16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from</a:t>
            </a:r>
            <a:r>
              <a:rPr sz="950" spc="-16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historical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demographic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110" dirty="0">
                <a:solidFill>
                  <a:srgbClr val="475568"/>
                </a:solidFill>
                <a:latin typeface="Verdana"/>
                <a:cs typeface="Verdana"/>
              </a:rPr>
              <a:t>h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campaign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data.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76625" y="2596604"/>
            <a:ext cx="342899" cy="3428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463925" y="2942276"/>
            <a:ext cx="2329180" cy="113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9740">
              <a:lnSpc>
                <a:spcPct val="143000"/>
              </a:lnSpc>
              <a:spcBef>
                <a:spcPts val="100"/>
              </a:spcBef>
            </a:pP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Track </a:t>
            </a:r>
            <a:r>
              <a:rPr sz="1150" b="1" spc="-40" dirty="0">
                <a:solidFill>
                  <a:srgbClr val="0F2E5A"/>
                </a:solidFill>
                <a:latin typeface="Tahoma"/>
                <a:cs typeface="Tahoma"/>
              </a:rPr>
              <a:t>02:</a:t>
            </a: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75" dirty="0">
                <a:solidFill>
                  <a:srgbClr val="0F2E5A"/>
                </a:solidFill>
                <a:latin typeface="Tahoma"/>
                <a:cs typeface="Tahoma"/>
              </a:rPr>
              <a:t>NLP</a:t>
            </a: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Pipeline</a:t>
            </a:r>
            <a:r>
              <a:rPr sz="1150" b="1" spc="50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950" b="1" spc="-100" dirty="0">
                <a:solidFill>
                  <a:srgbClr val="475568"/>
                </a:solidFill>
                <a:latin typeface="Verdana"/>
                <a:cs typeface="Verdana"/>
              </a:rPr>
              <a:t>Text </a:t>
            </a:r>
            <a:r>
              <a:rPr sz="950" b="1" spc="-70" dirty="0">
                <a:solidFill>
                  <a:srgbClr val="475568"/>
                </a:solidFill>
                <a:latin typeface="Verdana"/>
                <a:cs typeface="Verdana"/>
              </a:rPr>
              <a:t>Sentiment</a:t>
            </a:r>
            <a:r>
              <a:rPr sz="950" b="1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70" dirty="0">
                <a:solidFill>
                  <a:srgbClr val="475568"/>
                </a:solidFill>
                <a:latin typeface="Verdana"/>
                <a:cs typeface="Verdana"/>
              </a:rPr>
              <a:t>Mining:</a:t>
            </a:r>
            <a:r>
              <a:rPr sz="950" b="1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Natural language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processing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to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classify</a:t>
            </a:r>
            <a:endParaRPr sz="950">
              <a:latin typeface="Verdana"/>
              <a:cs typeface="Verdana"/>
            </a:endParaRPr>
          </a:p>
          <a:p>
            <a:pPr marL="12700" marR="5080">
              <a:lnSpc>
                <a:spcPct val="148700"/>
              </a:lnSpc>
            </a:pP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multi-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brand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public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social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discourse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into polarity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spectrums.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343650" y="2596604"/>
            <a:ext cx="342899" cy="3428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330950" y="2972735"/>
            <a:ext cx="2292985" cy="78105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Datasets</a:t>
            </a:r>
            <a:r>
              <a:rPr sz="1150" b="1" spc="-5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Explored</a:t>
            </a:r>
            <a:endParaRPr sz="1150">
              <a:latin typeface="Tahoma"/>
              <a:cs typeface="Tahoma"/>
            </a:endParaRPr>
          </a:p>
          <a:p>
            <a:pPr marL="12700" marR="5080" indent="-10795">
              <a:lnSpc>
                <a:spcPts val="919"/>
              </a:lnSpc>
              <a:spcBef>
                <a:spcPts val="530"/>
              </a:spcBef>
              <a:buSzPct val="89473"/>
              <a:buAutoNum type="arabicPeriod"/>
              <a:tabLst>
                <a:tab pos="130810" algn="l"/>
              </a:tabLst>
            </a:pPr>
            <a:r>
              <a:rPr sz="950" b="1" spc="-90" dirty="0">
                <a:solidFill>
                  <a:srgbClr val="475568"/>
                </a:solidFill>
                <a:latin typeface="Verdana"/>
                <a:cs typeface="Verdana"/>
              </a:rPr>
              <a:t>	Bank</a:t>
            </a:r>
            <a:r>
              <a:rPr sz="950" b="1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70" dirty="0">
                <a:solidFill>
                  <a:srgbClr val="475568"/>
                </a:solidFill>
                <a:latin typeface="Verdana"/>
                <a:cs typeface="Verdana"/>
              </a:rPr>
              <a:t>Marketing:</a:t>
            </a:r>
            <a:r>
              <a:rPr sz="950" b="1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0" dirty="0">
                <a:solidFill>
                  <a:srgbClr val="475568"/>
                </a:solidFill>
                <a:latin typeface="Verdana"/>
                <a:cs typeface="Verdana"/>
              </a:rPr>
              <a:t>41,188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observations </a:t>
            </a:r>
            <a:r>
              <a:rPr sz="950" spc="-150" dirty="0">
                <a:solidFill>
                  <a:srgbClr val="475568"/>
                </a:solidFill>
                <a:latin typeface="Verdana"/>
                <a:cs typeface="Verdana"/>
              </a:rPr>
              <a:t>(16</a:t>
            </a:r>
            <a:r>
              <a:rPr sz="9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attributes).</a:t>
            </a:r>
            <a:endParaRPr sz="950">
              <a:latin typeface="Verdana"/>
              <a:cs typeface="Verdana"/>
            </a:endParaRPr>
          </a:p>
          <a:p>
            <a:pPr marL="12700" marR="390525" indent="142240">
              <a:lnSpc>
                <a:spcPct val="80600"/>
              </a:lnSpc>
              <a:spcBef>
                <a:spcPts val="5"/>
              </a:spcBef>
              <a:buSzPct val="89473"/>
              <a:buAutoNum type="arabicPeriod"/>
              <a:tabLst>
                <a:tab pos="154940" algn="l"/>
              </a:tabLst>
            </a:pPr>
            <a:r>
              <a:rPr sz="950" b="1" spc="-55" dirty="0">
                <a:solidFill>
                  <a:srgbClr val="475568"/>
                </a:solidFill>
                <a:latin typeface="Verdana"/>
                <a:cs typeface="Verdana"/>
              </a:rPr>
              <a:t>Social</a:t>
            </a:r>
            <a:r>
              <a:rPr sz="950" b="1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50" dirty="0">
                <a:solidFill>
                  <a:srgbClr val="475568"/>
                </a:solidFill>
                <a:latin typeface="Verdana"/>
                <a:cs typeface="Verdana"/>
              </a:rPr>
              <a:t>Media</a:t>
            </a:r>
            <a:r>
              <a:rPr sz="950" b="1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50" dirty="0">
                <a:solidFill>
                  <a:srgbClr val="475568"/>
                </a:solidFill>
                <a:latin typeface="Verdana"/>
                <a:cs typeface="Verdana"/>
              </a:rPr>
              <a:t>Corpus:</a:t>
            </a:r>
            <a:r>
              <a:rPr sz="950" b="1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10,000 tokenized</a:t>
            </a:r>
            <a:r>
              <a:rPr sz="95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public</a:t>
            </a:r>
            <a:r>
              <a:rPr sz="950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tweets.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210675" y="2596604"/>
            <a:ext cx="342899" cy="3428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197975" y="2942276"/>
            <a:ext cx="1934210" cy="70231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50" b="1" dirty="0">
                <a:solidFill>
                  <a:srgbClr val="0F2E5A"/>
                </a:solidFill>
                <a:latin typeface="Tahoma"/>
                <a:cs typeface="Tahoma"/>
              </a:rPr>
              <a:t>Python</a:t>
            </a:r>
            <a:r>
              <a:rPr sz="1150" b="1" spc="-4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Stack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ts val="1700"/>
              </a:lnSpc>
              <a:spcBef>
                <a:spcPts val="60"/>
              </a:spcBef>
            </a:pP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scikit-</a:t>
            </a:r>
            <a:r>
              <a:rPr sz="950" spc="-50" dirty="0">
                <a:solidFill>
                  <a:srgbClr val="475568"/>
                </a:solidFill>
                <a:latin typeface="Verdana"/>
                <a:cs typeface="Verdana"/>
              </a:rPr>
              <a:t>learn,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pandas,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50" dirty="0">
                <a:solidFill>
                  <a:srgbClr val="475568"/>
                </a:solidFill>
                <a:latin typeface="Verdana"/>
                <a:cs typeface="Verdana"/>
              </a:rPr>
              <a:t>numpy,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nltk,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TextBlob,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matplotlib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110" dirty="0">
                <a:solidFill>
                  <a:srgbClr val="475568"/>
                </a:solidFill>
                <a:latin typeface="Verdana"/>
                <a:cs typeface="Verdana"/>
              </a:rPr>
              <a:t>h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seaborn.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8800" y="4346279"/>
            <a:ext cx="925194" cy="4248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DATASET</a:t>
            </a:r>
            <a:r>
              <a:rPr sz="750" b="1" spc="14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spc="-10" dirty="0">
                <a:solidFill>
                  <a:srgbClr val="64738B"/>
                </a:solidFill>
                <a:latin typeface="Courier New"/>
                <a:cs typeface="Courier New"/>
              </a:rPr>
              <a:t>RECORDS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650" b="1" spc="-10" dirty="0">
                <a:solidFill>
                  <a:srgbClr val="0284C7"/>
                </a:solidFill>
                <a:latin typeface="Tahoma"/>
                <a:cs typeface="Tahoma"/>
              </a:rPr>
              <a:t>51,188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21062" y="4346279"/>
            <a:ext cx="1165225" cy="4248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CLASSIFIER</a:t>
            </a:r>
            <a:r>
              <a:rPr sz="750" b="1" spc="20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spc="-10" dirty="0">
                <a:solidFill>
                  <a:srgbClr val="64738B"/>
                </a:solidFill>
                <a:latin typeface="Courier New"/>
                <a:cs typeface="Courier New"/>
              </a:rPr>
              <a:t>ACCURACY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650" b="1" spc="-10" dirty="0">
                <a:solidFill>
                  <a:srgbClr val="059668"/>
                </a:solidFill>
                <a:latin typeface="Tahoma"/>
                <a:cs typeface="Tahoma"/>
              </a:rPr>
              <a:t>89.4%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83325" y="4346279"/>
            <a:ext cx="805180" cy="4248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ROC-AUC</a:t>
            </a:r>
            <a:r>
              <a:rPr sz="750" b="1" spc="14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spc="-10" dirty="0">
                <a:solidFill>
                  <a:srgbClr val="64738B"/>
                </a:solidFill>
                <a:latin typeface="Courier New"/>
                <a:cs typeface="Courier New"/>
              </a:rPr>
              <a:t>SCORE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650" b="1" spc="-10" dirty="0">
                <a:solidFill>
                  <a:srgbClr val="D97706"/>
                </a:solidFill>
                <a:latin typeface="Tahoma"/>
                <a:cs typeface="Tahoma"/>
              </a:rPr>
              <a:t>0.912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5587" y="4346279"/>
            <a:ext cx="1104900" cy="4248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NLP</a:t>
            </a:r>
            <a:r>
              <a:rPr sz="750" b="1" spc="114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POLARITY</a:t>
            </a:r>
            <a:r>
              <a:rPr sz="750" b="1" spc="12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spc="-10" dirty="0">
                <a:solidFill>
                  <a:srgbClr val="64738B"/>
                </a:solidFill>
                <a:latin typeface="Courier New"/>
                <a:cs typeface="Courier New"/>
              </a:rPr>
              <a:t>RANGE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650" b="1" spc="-125" dirty="0">
                <a:solidFill>
                  <a:srgbClr val="7E22CE"/>
                </a:solidFill>
                <a:latin typeface="Tahoma"/>
                <a:cs typeface="Tahoma"/>
              </a:rPr>
              <a:t>[-</a:t>
            </a:r>
            <a:r>
              <a:rPr sz="1650" b="1" spc="-85" dirty="0">
                <a:solidFill>
                  <a:srgbClr val="7E22CE"/>
                </a:solidFill>
                <a:latin typeface="Tahoma"/>
                <a:cs typeface="Tahoma"/>
              </a:rPr>
              <a:t>1.0,</a:t>
            </a:r>
            <a:r>
              <a:rPr sz="1650" b="1" spc="-70" dirty="0">
                <a:solidFill>
                  <a:srgbClr val="7E22CE"/>
                </a:solidFill>
                <a:latin typeface="Tahoma"/>
                <a:cs typeface="Tahoma"/>
              </a:rPr>
              <a:t> </a:t>
            </a:r>
            <a:r>
              <a:rPr sz="1650" b="1" spc="-125" dirty="0">
                <a:solidFill>
                  <a:srgbClr val="7E22CE"/>
                </a:solidFill>
                <a:latin typeface="Tahoma"/>
                <a:cs typeface="Tahoma"/>
              </a:rPr>
              <a:t>+1.0]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4375" y="2691854"/>
            <a:ext cx="133349" cy="1523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552825" y="2691854"/>
            <a:ext cx="190499" cy="15239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48425" y="2691854"/>
            <a:ext cx="133349" cy="1523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315450" y="2691854"/>
            <a:ext cx="133349" cy="152399"/>
          </a:xfrm>
          <a:prstGeom prst="rect">
            <a:avLst/>
          </a:prstGeom>
        </p:spPr>
      </p:pic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Project</a:t>
            </a:r>
            <a:r>
              <a:rPr spc="-55" dirty="0"/>
              <a:t> </a:t>
            </a:r>
            <a:r>
              <a:rPr spc="-114" dirty="0"/>
              <a:t>Overview</a:t>
            </a:r>
            <a:r>
              <a:rPr spc="-50" dirty="0"/>
              <a:t> </a:t>
            </a:r>
            <a:r>
              <a:rPr spc="-409" dirty="0"/>
              <a:t>&amp;</a:t>
            </a:r>
            <a:r>
              <a:rPr spc="-50" dirty="0"/>
              <a:t> </a:t>
            </a:r>
            <a:r>
              <a:rPr spc="-85" dirty="0"/>
              <a:t>Data</a:t>
            </a:r>
            <a:r>
              <a:rPr spc="-55" dirty="0"/>
              <a:t> </a:t>
            </a:r>
            <a:r>
              <a:rPr spc="-10" dirty="0"/>
              <a:t>Stack</a:t>
            </a:r>
          </a:p>
        </p:txBody>
      </p:sp>
      <p:pic>
        <p:nvPicPr>
          <p:cNvPr id="32" name="object 3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553575" y="6231900"/>
            <a:ext cx="2605648" cy="623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8825" y="257175"/>
            <a:ext cx="2114549" cy="219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" y="2269182"/>
            <a:ext cx="5581649" cy="28967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1725" y="2269182"/>
            <a:ext cx="5581649" cy="28967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" y="3152030"/>
            <a:ext cx="5219699" cy="4845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" y="3722340"/>
            <a:ext cx="5219699" cy="4292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24600" y="2659707"/>
            <a:ext cx="5295899" cy="16585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8625" y="6429375"/>
            <a:ext cx="11334749" cy="2285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7376" y="274764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35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925" y="6498021"/>
            <a:ext cx="191833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Slide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64738B"/>
                </a:solidFill>
                <a:latin typeface="Verdana"/>
                <a:cs typeface="Verdana"/>
              </a:rPr>
              <a:t>3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|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64738B"/>
                </a:solidFill>
                <a:latin typeface="Verdana"/>
                <a:cs typeface="Verdana"/>
              </a:rPr>
              <a:t>CART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64738B"/>
                </a:solidFill>
                <a:latin typeface="Verdana"/>
                <a:cs typeface="Verdana"/>
              </a:rPr>
              <a:t>Algorithm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Foundations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9525" y="6498021"/>
            <a:ext cx="15830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85" dirty="0">
                <a:solidFill>
                  <a:srgbClr val="64738B"/>
                </a:solidFill>
                <a:latin typeface="Verdana"/>
                <a:cs typeface="Verdana"/>
              </a:rPr>
              <a:t>IILM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64738B"/>
                </a:solidFill>
                <a:latin typeface="Verdana"/>
                <a:cs typeface="Verdana"/>
              </a:rPr>
              <a:t>University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•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Greater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Noida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900" y="2338629"/>
            <a:ext cx="5142865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000"/>
              </a:lnSpc>
              <a:spcBef>
                <a:spcPts val="100"/>
              </a:spcBef>
            </a:pPr>
            <a:r>
              <a:rPr sz="1150" b="1" spc="-60" dirty="0">
                <a:solidFill>
                  <a:srgbClr val="0F2E5A"/>
                </a:solidFill>
                <a:latin typeface="Tahoma"/>
                <a:cs typeface="Tahoma"/>
              </a:rPr>
              <a:t>CART</a:t>
            </a:r>
            <a:r>
              <a:rPr sz="1150" b="1" spc="-5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Mathematical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 Foundations</a:t>
            </a:r>
            <a:r>
              <a:rPr sz="1150" b="1" spc="500" dirty="0">
                <a:solidFill>
                  <a:srgbClr val="0F2E5A"/>
                </a:solidFill>
                <a:latin typeface="Tahoma"/>
                <a:cs typeface="Tahoma"/>
              </a:rPr>
              <a:t>                        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The</a:t>
            </a:r>
            <a:r>
              <a:rPr sz="950" spc="-13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Classification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Regression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Tree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70" dirty="0">
                <a:solidFill>
                  <a:srgbClr val="475568"/>
                </a:solidFill>
                <a:latin typeface="Verdana"/>
                <a:cs typeface="Verdana"/>
              </a:rPr>
              <a:t>(CART)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algorithm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recursively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partitions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the</a:t>
            </a:r>
            <a:r>
              <a:rPr sz="950" spc="-13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feature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space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to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50" dirty="0">
                <a:solidFill>
                  <a:srgbClr val="475568"/>
                </a:solidFill>
                <a:latin typeface="Verdana"/>
                <a:cs typeface="Verdana"/>
              </a:rPr>
              <a:t>maximize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node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purity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using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the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70" dirty="0">
                <a:solidFill>
                  <a:srgbClr val="475568"/>
                </a:solidFill>
                <a:latin typeface="Verdana"/>
                <a:cs typeface="Verdana"/>
              </a:rPr>
              <a:t>Gini</a:t>
            </a:r>
            <a:r>
              <a:rPr sz="950" b="1" spc="-9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100" dirty="0">
                <a:solidFill>
                  <a:srgbClr val="475568"/>
                </a:solidFill>
                <a:latin typeface="Verdana"/>
                <a:cs typeface="Verdana"/>
              </a:rPr>
              <a:t>Impurity</a:t>
            </a:r>
            <a:r>
              <a:rPr sz="950" b="1" spc="-9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10" dirty="0">
                <a:solidFill>
                  <a:srgbClr val="475568"/>
                </a:solidFill>
                <a:latin typeface="Verdana"/>
                <a:cs typeface="Verdana"/>
              </a:rPr>
              <a:t>Index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: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4300" y="2393835"/>
            <a:ext cx="2298700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b="1" spc="-30" dirty="0">
                <a:solidFill>
                  <a:srgbClr val="0284C7"/>
                </a:solidFill>
                <a:latin typeface="Tahoma"/>
                <a:cs typeface="Tahoma"/>
              </a:rPr>
              <a:t>Tree</a:t>
            </a:r>
            <a:r>
              <a:rPr sz="1050" b="1" spc="-1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1050" b="1" dirty="0">
                <a:solidFill>
                  <a:srgbClr val="0284C7"/>
                </a:solidFill>
                <a:latin typeface="Tahoma"/>
                <a:cs typeface="Tahoma"/>
              </a:rPr>
              <a:t>Architecture</a:t>
            </a:r>
            <a:r>
              <a:rPr sz="1050" b="1" spc="-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1050" b="1" spc="-195" dirty="0">
                <a:solidFill>
                  <a:srgbClr val="0284C7"/>
                </a:solidFill>
                <a:latin typeface="Tahoma"/>
                <a:cs typeface="Tahoma"/>
              </a:rPr>
              <a:t>&amp;</a:t>
            </a:r>
            <a:r>
              <a:rPr sz="1050" b="1" spc="-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1050" b="1" spc="-10" dirty="0">
                <a:solidFill>
                  <a:srgbClr val="0284C7"/>
                </a:solidFill>
                <a:latin typeface="Tahoma"/>
                <a:cs typeface="Tahoma"/>
              </a:rPr>
              <a:t>Splifting</a:t>
            </a:r>
            <a:r>
              <a:rPr sz="1050" b="1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1050" b="1" spc="-10" dirty="0">
                <a:solidFill>
                  <a:srgbClr val="0284C7"/>
                </a:solidFill>
                <a:latin typeface="Tahoma"/>
                <a:cs typeface="Tahoma"/>
              </a:rPr>
              <a:t>Logic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1900" y="4396419"/>
            <a:ext cx="286067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-40" dirty="0">
                <a:solidFill>
                  <a:srgbClr val="64738B"/>
                </a:solidFill>
                <a:latin typeface="Tahoma"/>
                <a:cs typeface="Tahoma"/>
              </a:rPr>
              <a:t>Pruning</a:t>
            </a:r>
            <a:r>
              <a:rPr sz="850" b="1" spc="-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850" b="1" spc="-10" dirty="0">
                <a:solidFill>
                  <a:srgbClr val="64738B"/>
                </a:solidFill>
                <a:latin typeface="Tahoma"/>
                <a:cs typeface="Tahoma"/>
              </a:rPr>
              <a:t>Strategy:</a:t>
            </a:r>
            <a:r>
              <a:rPr sz="850" b="1" spc="-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850" b="1" spc="-30" dirty="0">
                <a:solidFill>
                  <a:srgbClr val="64738B"/>
                </a:solidFill>
                <a:latin typeface="Tahoma"/>
                <a:cs typeface="Tahoma"/>
              </a:rPr>
              <a:t>max_depth=5</a:t>
            </a:r>
            <a:r>
              <a:rPr sz="850" b="1" spc="-45" dirty="0">
                <a:solidFill>
                  <a:srgbClr val="64738B"/>
                </a:solidFill>
                <a:latin typeface="Tahoma"/>
                <a:cs typeface="Tahoma"/>
              </a:rPr>
              <a:t> Min </a:t>
            </a:r>
            <a:r>
              <a:rPr sz="850" b="1" spc="-10" dirty="0">
                <a:solidFill>
                  <a:srgbClr val="64738B"/>
                </a:solidFill>
                <a:latin typeface="Tahoma"/>
                <a:cs typeface="Tahoma"/>
              </a:rPr>
              <a:t>Samples</a:t>
            </a:r>
            <a:r>
              <a:rPr sz="850" b="1" spc="-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850" b="1" spc="-20" dirty="0">
                <a:solidFill>
                  <a:srgbClr val="64738B"/>
                </a:solidFill>
                <a:latin typeface="Tahoma"/>
                <a:cs typeface="Tahoma"/>
              </a:rPr>
              <a:t>Split:</a:t>
            </a:r>
            <a:r>
              <a:rPr sz="850" b="1" spc="-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850" b="1" spc="-25" dirty="0">
                <a:solidFill>
                  <a:srgbClr val="64738B"/>
                </a:solidFill>
                <a:latin typeface="Tahoma"/>
                <a:cs typeface="Tahoma"/>
              </a:rPr>
              <a:t>20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52228" y="3228230"/>
            <a:ext cx="1734441" cy="33218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00447" y="3798540"/>
            <a:ext cx="4038004" cy="27681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24600" y="2431107"/>
            <a:ext cx="152399" cy="13811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035925" y="3135844"/>
            <a:ext cx="14052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solidFill>
                  <a:srgbClr val="059668"/>
                </a:solidFill>
                <a:latin typeface="Courier New"/>
                <a:cs typeface="Courier New"/>
              </a:rPr>
              <a:t>Purchase</a:t>
            </a:r>
            <a:r>
              <a:rPr sz="850" b="1" spc="5" dirty="0">
                <a:solidFill>
                  <a:srgbClr val="059668"/>
                </a:solidFill>
                <a:latin typeface="Courier New"/>
                <a:cs typeface="Courier New"/>
              </a:rPr>
              <a:t> </a:t>
            </a:r>
            <a:r>
              <a:rPr sz="850" b="1" dirty="0">
                <a:solidFill>
                  <a:srgbClr val="059668"/>
                </a:solidFill>
                <a:latin typeface="Courier New"/>
                <a:cs typeface="Courier New"/>
              </a:rPr>
              <a:t>(91.2%</a:t>
            </a:r>
            <a:r>
              <a:rPr sz="850" b="1" spc="5" dirty="0">
                <a:solidFill>
                  <a:srgbClr val="059668"/>
                </a:solidFill>
                <a:latin typeface="Courier New"/>
                <a:cs typeface="Courier New"/>
              </a:rPr>
              <a:t> </a:t>
            </a:r>
            <a:r>
              <a:rPr sz="850" b="1" spc="-10" dirty="0">
                <a:solidFill>
                  <a:srgbClr val="059668"/>
                </a:solidFill>
                <a:latin typeface="Courier New"/>
                <a:cs typeface="Courier New"/>
              </a:rPr>
              <a:t>Prob)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35725" y="2722650"/>
            <a:ext cx="1021715" cy="7454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50" b="1" dirty="0">
                <a:solidFill>
                  <a:srgbClr val="0284C7"/>
                </a:solidFill>
                <a:latin typeface="Courier New"/>
                <a:cs typeface="Courier New"/>
              </a:rPr>
              <a:t>[Root</a:t>
            </a:r>
            <a:r>
              <a:rPr sz="850" b="1" spc="5" dirty="0">
                <a:solidFill>
                  <a:srgbClr val="0284C7"/>
                </a:solidFill>
                <a:latin typeface="Courier New"/>
                <a:cs typeface="Courier New"/>
              </a:rPr>
              <a:t> </a:t>
            </a:r>
            <a:r>
              <a:rPr sz="850" b="1" spc="-10" dirty="0">
                <a:solidFill>
                  <a:srgbClr val="0284C7"/>
                </a:solidFill>
                <a:latin typeface="Courier New"/>
                <a:cs typeface="Courier New"/>
              </a:rPr>
              <a:t>Node]</a:t>
            </a:r>
            <a:endParaRPr sz="850">
              <a:latin typeface="Courier New"/>
              <a:cs typeface="Courier New"/>
            </a:endParaRPr>
          </a:p>
          <a:p>
            <a:pPr marL="412750">
              <a:lnSpc>
                <a:spcPct val="100000"/>
              </a:lnSpc>
              <a:spcBef>
                <a:spcPts val="434"/>
              </a:spcBef>
            </a:pPr>
            <a:r>
              <a:rPr sz="850" b="1" spc="-10" dirty="0">
                <a:solidFill>
                  <a:srgbClr val="059668"/>
                </a:solidFill>
                <a:latin typeface="Courier New"/>
                <a:cs typeface="Courier New"/>
              </a:rPr>
              <a:t>[True]</a:t>
            </a:r>
            <a:endParaRPr sz="850">
              <a:latin typeface="Courier New"/>
              <a:cs typeface="Courier New"/>
            </a:endParaRPr>
          </a:p>
          <a:p>
            <a:pPr marL="746125" marR="5080">
              <a:lnSpc>
                <a:spcPct val="135200"/>
              </a:lnSpc>
            </a:pPr>
            <a:r>
              <a:rPr sz="850" b="1" spc="-20" dirty="0">
                <a:solidFill>
                  <a:srgbClr val="1E293B"/>
                </a:solidFill>
                <a:latin typeface="Courier New"/>
                <a:cs typeface="Courier New"/>
              </a:rPr>
              <a:t>Yes: </a:t>
            </a:r>
            <a:r>
              <a:rPr sz="850" b="1" spc="-25" dirty="0">
                <a:solidFill>
                  <a:srgbClr val="1E293B"/>
                </a:solidFill>
                <a:latin typeface="Courier New"/>
                <a:cs typeface="Courier New"/>
              </a:rPr>
              <a:t>No: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2525" y="3442384"/>
            <a:ext cx="28829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95"/>
              </a:spcBef>
            </a:pPr>
            <a:r>
              <a:rPr sz="850" b="1" spc="-20" dirty="0">
                <a:solidFill>
                  <a:srgbClr val="1E293B"/>
                </a:solidFill>
                <a:latin typeface="Courier New"/>
                <a:cs typeface="Courier New"/>
              </a:rPr>
              <a:t>Yes: </a:t>
            </a:r>
            <a:r>
              <a:rPr sz="850" b="1" spc="-25" dirty="0">
                <a:solidFill>
                  <a:srgbClr val="1E293B"/>
                </a:solidFill>
                <a:latin typeface="Courier New"/>
                <a:cs typeface="Courier New"/>
              </a:rPr>
              <a:t>No: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02625" y="3442384"/>
            <a:ext cx="74803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6675">
              <a:lnSpc>
                <a:spcPct val="135200"/>
              </a:lnSpc>
              <a:spcBef>
                <a:spcPts val="95"/>
              </a:spcBef>
            </a:pPr>
            <a:r>
              <a:rPr sz="850" b="1" spc="-10" dirty="0">
                <a:solidFill>
                  <a:srgbClr val="059668"/>
                </a:solidFill>
                <a:latin typeface="Courier New"/>
                <a:cs typeface="Courier New"/>
              </a:rPr>
              <a:t>Purchase </a:t>
            </a:r>
            <a:r>
              <a:rPr sz="850" b="1" dirty="0">
                <a:solidFill>
                  <a:srgbClr val="DC2626"/>
                </a:solidFill>
                <a:latin typeface="Courier New"/>
                <a:cs typeface="Courier New"/>
              </a:rPr>
              <a:t>No</a:t>
            </a:r>
            <a:r>
              <a:rPr sz="850" b="1" spc="5" dirty="0">
                <a:solidFill>
                  <a:srgbClr val="DC2626"/>
                </a:solidFill>
                <a:latin typeface="Courier New"/>
                <a:cs typeface="Courier New"/>
              </a:rPr>
              <a:t> </a:t>
            </a:r>
            <a:r>
              <a:rPr sz="850" b="1" spc="-10" dirty="0">
                <a:solidFill>
                  <a:srgbClr val="DC2626"/>
                </a:solidFill>
                <a:latin typeface="Courier New"/>
                <a:cs typeface="Courier New"/>
              </a:rPr>
              <a:t>Purchase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35775" y="3792725"/>
            <a:ext cx="2468880" cy="37592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850" b="1" spc="-10" dirty="0">
                <a:solidFill>
                  <a:srgbClr val="DC2626"/>
                </a:solidFill>
                <a:latin typeface="Courier New"/>
                <a:cs typeface="Courier New"/>
              </a:rPr>
              <a:t>[False]</a:t>
            </a:r>
            <a:endParaRPr sz="850">
              <a:latin typeface="Courier New"/>
              <a:cs typeface="Courier New"/>
            </a:endParaRPr>
          </a:p>
          <a:p>
            <a:pPr marL="879475">
              <a:lnSpc>
                <a:spcPct val="100000"/>
              </a:lnSpc>
              <a:spcBef>
                <a:spcPts val="360"/>
              </a:spcBef>
            </a:pPr>
            <a:r>
              <a:rPr sz="850" b="1" dirty="0">
                <a:solidFill>
                  <a:srgbClr val="DC2626"/>
                </a:solidFill>
                <a:latin typeface="Courier New"/>
                <a:cs typeface="Courier New"/>
              </a:rPr>
              <a:t>No</a:t>
            </a:r>
            <a:r>
              <a:rPr sz="850" b="1" spc="5" dirty="0">
                <a:solidFill>
                  <a:srgbClr val="DC2626"/>
                </a:solidFill>
                <a:latin typeface="Courier New"/>
                <a:cs typeface="Courier New"/>
              </a:rPr>
              <a:t> </a:t>
            </a:r>
            <a:r>
              <a:rPr sz="850" b="1" dirty="0">
                <a:solidFill>
                  <a:srgbClr val="DC2626"/>
                </a:solidFill>
                <a:latin typeface="Courier New"/>
                <a:cs typeface="Courier New"/>
              </a:rPr>
              <a:t>Purchase</a:t>
            </a:r>
            <a:r>
              <a:rPr sz="850" b="1" spc="5" dirty="0">
                <a:solidFill>
                  <a:srgbClr val="DC2626"/>
                </a:solidFill>
                <a:latin typeface="Courier New"/>
                <a:cs typeface="Courier New"/>
              </a:rPr>
              <a:t> </a:t>
            </a:r>
            <a:r>
              <a:rPr sz="850" b="1" dirty="0">
                <a:solidFill>
                  <a:srgbClr val="DC2626"/>
                </a:solidFill>
                <a:latin typeface="Courier New"/>
                <a:cs typeface="Courier New"/>
              </a:rPr>
              <a:t>(94.8%</a:t>
            </a:r>
            <a:r>
              <a:rPr sz="850" b="1" spc="5" dirty="0">
                <a:solidFill>
                  <a:srgbClr val="DC2626"/>
                </a:solidFill>
                <a:latin typeface="Courier New"/>
                <a:cs typeface="Courier New"/>
              </a:rPr>
              <a:t> </a:t>
            </a:r>
            <a:r>
              <a:rPr sz="850" b="1" spc="-10" dirty="0">
                <a:solidFill>
                  <a:srgbClr val="DC2626"/>
                </a:solidFill>
                <a:latin typeface="Courier New"/>
                <a:cs typeface="Courier New"/>
              </a:rPr>
              <a:t>Prob)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6900" y="4188157"/>
            <a:ext cx="5154295" cy="7404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745"/>
              </a:spcBef>
              <a:buClr>
                <a:srgbClr val="0284C7"/>
              </a:buClr>
              <a:buSzPct val="110526"/>
              <a:buFont typeface="MS PGothic"/>
              <a:buChar char="◗"/>
              <a:tabLst>
                <a:tab pos="186055" algn="l"/>
              </a:tabLst>
            </a:pPr>
            <a:r>
              <a:rPr sz="1425" b="1" spc="-52" baseline="2923" dirty="0">
                <a:solidFill>
                  <a:srgbClr val="334155"/>
                </a:solidFill>
                <a:latin typeface="Verdana"/>
                <a:cs typeface="Verdana"/>
              </a:rPr>
              <a:t>Non-</a:t>
            </a:r>
            <a:r>
              <a:rPr sz="1425" b="1" spc="-104" baseline="2923" dirty="0">
                <a:solidFill>
                  <a:srgbClr val="334155"/>
                </a:solidFill>
                <a:latin typeface="Verdana"/>
                <a:cs typeface="Verdana"/>
              </a:rPr>
              <a:t>Parametric:</a:t>
            </a:r>
            <a:r>
              <a:rPr sz="1425" b="1" spc="-15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Makes</a:t>
            </a:r>
            <a:r>
              <a:rPr sz="1425" spc="-165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30" baseline="2923" dirty="0">
                <a:solidFill>
                  <a:srgbClr val="334155"/>
                </a:solidFill>
                <a:latin typeface="Verdana"/>
                <a:cs typeface="Verdana"/>
              </a:rPr>
              <a:t>zero</a:t>
            </a:r>
            <a:r>
              <a:rPr sz="1425" spc="-165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assumptions</a:t>
            </a:r>
            <a:r>
              <a:rPr sz="1425" spc="-165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regarding</a:t>
            </a:r>
            <a:r>
              <a:rPr sz="1425" spc="-165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44" baseline="2923" dirty="0">
                <a:solidFill>
                  <a:srgbClr val="334155"/>
                </a:solidFill>
                <a:latin typeface="Verdana"/>
                <a:cs typeface="Verdana"/>
              </a:rPr>
              <a:t>underlying</a:t>
            </a:r>
            <a:r>
              <a:rPr sz="1425" spc="-165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30" baseline="2923" dirty="0">
                <a:solidFill>
                  <a:srgbClr val="334155"/>
                </a:solidFill>
                <a:latin typeface="Verdana"/>
                <a:cs typeface="Verdana"/>
              </a:rPr>
              <a:t>feature</a:t>
            </a:r>
            <a:r>
              <a:rPr sz="1425" spc="-165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distributions.</a:t>
            </a:r>
            <a:endParaRPr sz="1425" baseline="2923">
              <a:latin typeface="Verdana"/>
              <a:cs typeface="Verdana"/>
            </a:endParaRPr>
          </a:p>
          <a:p>
            <a:pPr marL="186055" indent="-173355">
              <a:lnSpc>
                <a:spcPct val="100000"/>
              </a:lnSpc>
              <a:spcBef>
                <a:spcPts val="770"/>
              </a:spcBef>
              <a:buClr>
                <a:srgbClr val="0284C7"/>
              </a:buClr>
              <a:buSzPct val="110526"/>
              <a:buFont typeface="MS PGothic"/>
              <a:buChar char="◗"/>
              <a:tabLst>
                <a:tab pos="186055" algn="l"/>
              </a:tabLst>
            </a:pPr>
            <a:r>
              <a:rPr sz="1425" b="1" spc="-82" baseline="2923" dirty="0">
                <a:solidFill>
                  <a:srgbClr val="334155"/>
                </a:solidFill>
                <a:latin typeface="Verdana"/>
                <a:cs typeface="Verdana"/>
              </a:rPr>
              <a:t>White-</a:t>
            </a:r>
            <a:r>
              <a:rPr sz="1425" b="1" spc="-60" baseline="2923" dirty="0">
                <a:solidFill>
                  <a:srgbClr val="334155"/>
                </a:solidFill>
                <a:latin typeface="Verdana"/>
                <a:cs typeface="Verdana"/>
              </a:rPr>
              <a:t>Box</a:t>
            </a:r>
            <a:r>
              <a:rPr sz="1425" b="1" spc="-165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="1" spc="-97" baseline="2923" dirty="0">
                <a:solidFill>
                  <a:srgbClr val="334155"/>
                </a:solidFill>
                <a:latin typeface="Verdana"/>
                <a:cs typeface="Verdana"/>
              </a:rPr>
              <a:t>Auditability:</a:t>
            </a:r>
            <a:r>
              <a:rPr sz="1425" b="1" spc="-165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30" baseline="2923" dirty="0">
                <a:solidFill>
                  <a:srgbClr val="334155"/>
                </a:solidFill>
                <a:latin typeface="Verdana"/>
                <a:cs typeface="Verdana"/>
              </a:rPr>
              <a:t>Directly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37" baseline="2923" dirty="0">
                <a:solidFill>
                  <a:srgbClr val="334155"/>
                </a:solidFill>
                <a:latin typeface="Verdana"/>
                <a:cs typeface="Verdana"/>
              </a:rPr>
              <a:t>translates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aseline="2923" dirty="0">
                <a:solidFill>
                  <a:srgbClr val="334155"/>
                </a:solidFill>
                <a:latin typeface="Verdana"/>
                <a:cs typeface="Verdana"/>
              </a:rPr>
              <a:t>to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business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52" baseline="2923" dirty="0">
                <a:solidFill>
                  <a:srgbClr val="334155"/>
                </a:solidFill>
                <a:latin typeface="Verdana"/>
                <a:cs typeface="Verdana"/>
              </a:rPr>
              <a:t>rules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aseline="2923" dirty="0">
                <a:solidFill>
                  <a:srgbClr val="334155"/>
                </a:solidFill>
                <a:latin typeface="Verdana"/>
                <a:cs typeface="Verdana"/>
              </a:rPr>
              <a:t>and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threshold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triggers.</a:t>
            </a:r>
            <a:endParaRPr sz="1425" baseline="2923">
              <a:latin typeface="Verdana"/>
              <a:cs typeface="Verdana"/>
            </a:endParaRPr>
          </a:p>
          <a:p>
            <a:pPr marL="186055" indent="-173355">
              <a:lnSpc>
                <a:spcPct val="100000"/>
              </a:lnSpc>
              <a:spcBef>
                <a:spcPts val="775"/>
              </a:spcBef>
              <a:buClr>
                <a:srgbClr val="0284C7"/>
              </a:buClr>
              <a:buSzPct val="110526"/>
              <a:buFont typeface="MS PGothic"/>
              <a:buChar char="◗"/>
              <a:tabLst>
                <a:tab pos="186055" algn="l"/>
              </a:tabLst>
            </a:pPr>
            <a:r>
              <a:rPr sz="1425" b="1" spc="-67" baseline="2923" dirty="0">
                <a:solidFill>
                  <a:srgbClr val="334155"/>
                </a:solidFill>
                <a:latin typeface="Verdana"/>
                <a:cs typeface="Verdana"/>
              </a:rPr>
              <a:t>Objective:</a:t>
            </a:r>
            <a:r>
              <a:rPr sz="1425" b="1" spc="-172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aseline="2923" dirty="0">
                <a:solidFill>
                  <a:srgbClr val="334155"/>
                </a:solidFill>
                <a:latin typeface="Verdana"/>
                <a:cs typeface="Verdana"/>
              </a:rPr>
              <a:t>Predict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44" baseline="2923" dirty="0">
                <a:solidFill>
                  <a:srgbClr val="334155"/>
                </a:solidFill>
                <a:latin typeface="Verdana"/>
                <a:cs typeface="Verdana"/>
              </a:rPr>
              <a:t>binary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target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67" baseline="2923" dirty="0">
                <a:solidFill>
                  <a:srgbClr val="334155"/>
                </a:solidFill>
                <a:latin typeface="Verdana"/>
                <a:cs typeface="Verdana"/>
              </a:rPr>
              <a:t>y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aseline="2923" dirty="0">
                <a:solidFill>
                  <a:srgbClr val="334155"/>
                </a:solidFill>
                <a:latin typeface="MS PGothic"/>
                <a:cs typeface="MS PGothic"/>
              </a:rPr>
              <a:t>∈</a:t>
            </a:r>
            <a:r>
              <a:rPr sz="1425" spc="-120" baseline="2923" dirty="0">
                <a:solidFill>
                  <a:srgbClr val="334155"/>
                </a:solidFill>
                <a:latin typeface="MS PGothic"/>
                <a:cs typeface="MS PGothic"/>
              </a:rPr>
              <a:t> </a:t>
            </a:r>
            <a:r>
              <a:rPr sz="1425" spc="-150" baseline="2923" dirty="0">
                <a:solidFill>
                  <a:srgbClr val="334155"/>
                </a:solidFill>
                <a:latin typeface="Verdana"/>
                <a:cs typeface="Verdana"/>
              </a:rPr>
              <a:t>{0,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405" baseline="2923" dirty="0">
                <a:solidFill>
                  <a:srgbClr val="334155"/>
                </a:solidFill>
                <a:latin typeface="Verdana"/>
                <a:cs typeface="Verdana"/>
              </a:rPr>
              <a:t>1}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27" baseline="2923" dirty="0">
                <a:solidFill>
                  <a:srgbClr val="334155"/>
                </a:solidFill>
                <a:latin typeface="Verdana"/>
                <a:cs typeface="Verdana"/>
              </a:rPr>
              <a:t>(Term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aseline="2923" dirty="0">
                <a:solidFill>
                  <a:srgbClr val="334155"/>
                </a:solidFill>
                <a:latin typeface="Verdana"/>
                <a:cs typeface="Verdana"/>
              </a:rPr>
              <a:t>Deposit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Subscribed).</a:t>
            </a:r>
            <a:endParaRPr sz="1425" baseline="2923">
              <a:latin typeface="Verdana"/>
              <a:cs typeface="Verdana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rgbClr val="FFFFFF"/>
                </a:solidFill>
              </a:rPr>
              <a:t>Task</a:t>
            </a:r>
            <a:r>
              <a:rPr spc="-60" dirty="0">
                <a:solidFill>
                  <a:srgbClr val="FFFFFF"/>
                </a:solidFill>
              </a:rPr>
              <a:t> </a:t>
            </a:r>
            <a:r>
              <a:rPr spc="-195" dirty="0">
                <a:solidFill>
                  <a:srgbClr val="FFFFFF"/>
                </a:solidFill>
              </a:rPr>
              <a:t>01</a:t>
            </a:r>
            <a:r>
              <a:rPr spc="-60" dirty="0">
                <a:solidFill>
                  <a:srgbClr val="FFFFFF"/>
                </a:solidFill>
              </a:rPr>
              <a:t> </a:t>
            </a:r>
            <a:r>
              <a:rPr spc="-50" dirty="0"/>
              <a:t>Decision</a:t>
            </a:r>
            <a:r>
              <a:rPr spc="-125" dirty="0"/>
              <a:t> </a:t>
            </a:r>
            <a:r>
              <a:rPr spc="-114" dirty="0"/>
              <a:t>Tree</a:t>
            </a:r>
            <a:r>
              <a:rPr spc="-60" dirty="0"/>
              <a:t> Classifier:</a:t>
            </a:r>
            <a:r>
              <a:rPr spc="-120" dirty="0"/>
              <a:t> </a:t>
            </a:r>
            <a:r>
              <a:rPr spc="-35" dirty="0"/>
              <a:t>Theory</a:t>
            </a:r>
            <a:r>
              <a:rPr spc="-60" dirty="0"/>
              <a:t> </a:t>
            </a:r>
            <a:r>
              <a:rPr spc="-409" dirty="0"/>
              <a:t>&amp;</a:t>
            </a:r>
            <a:r>
              <a:rPr spc="-60" dirty="0"/>
              <a:t> </a:t>
            </a:r>
            <a:r>
              <a:rPr spc="-10" dirty="0"/>
              <a:t>Splifting</a:t>
            </a: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53575" y="6231900"/>
            <a:ext cx="2605648" cy="623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8825" y="257175"/>
            <a:ext cx="2114549" cy="219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" y="2519660"/>
            <a:ext cx="11334749" cy="7238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625" y="3357860"/>
            <a:ext cx="3676649" cy="1557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7675" y="3357860"/>
            <a:ext cx="3676649" cy="15576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86725" y="3357860"/>
            <a:ext cx="3676649" cy="1557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369" y="2643485"/>
            <a:ext cx="2355204" cy="2952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19338" y="2643485"/>
            <a:ext cx="2355204" cy="2952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17307" y="2643485"/>
            <a:ext cx="2355204" cy="2952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15276" y="2643485"/>
            <a:ext cx="2355205" cy="2952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8625" y="6429375"/>
            <a:ext cx="11334749" cy="2285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47376" y="274764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35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925" y="6498021"/>
            <a:ext cx="271018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Slide</a:t>
            </a:r>
            <a:r>
              <a:rPr sz="850" spc="-12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4</a:t>
            </a:r>
            <a:r>
              <a:rPr sz="850" spc="-12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|</a:t>
            </a:r>
            <a:r>
              <a:rPr sz="850" spc="-12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Feature</a:t>
            </a:r>
            <a:r>
              <a:rPr sz="850" spc="-12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64738B"/>
                </a:solidFill>
                <a:latin typeface="Verdana"/>
                <a:cs typeface="Verdana"/>
              </a:rPr>
              <a:t>Engineering</a:t>
            </a:r>
            <a:r>
              <a:rPr sz="850" spc="-12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90" dirty="0">
                <a:solidFill>
                  <a:srgbClr val="64738B"/>
                </a:solidFill>
                <a:latin typeface="Verdana"/>
                <a:cs typeface="Verdana"/>
              </a:rPr>
              <a:t>h</a:t>
            </a:r>
            <a:r>
              <a:rPr sz="850" spc="-12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5" dirty="0">
                <a:solidFill>
                  <a:srgbClr val="64738B"/>
                </a:solidFill>
                <a:latin typeface="Verdana"/>
                <a:cs typeface="Verdana"/>
              </a:rPr>
              <a:t>Matrix</a:t>
            </a:r>
            <a:r>
              <a:rPr sz="850" spc="-12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64738B"/>
                </a:solidFill>
                <a:latin typeface="Verdana"/>
                <a:cs typeface="Verdana"/>
              </a:rPr>
              <a:t>Transformation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9525" y="6498021"/>
            <a:ext cx="15830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85" dirty="0">
                <a:solidFill>
                  <a:srgbClr val="64738B"/>
                </a:solidFill>
                <a:latin typeface="Verdana"/>
                <a:cs typeface="Verdana"/>
              </a:rPr>
              <a:t>IILM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64738B"/>
                </a:solidFill>
                <a:latin typeface="Verdana"/>
                <a:cs typeface="Verdana"/>
              </a:rPr>
              <a:t>University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•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Greater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Noida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7686" y="2959968"/>
            <a:ext cx="128270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41,188</a:t>
            </a:r>
            <a:r>
              <a:rPr sz="800" spc="6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×</a:t>
            </a:r>
            <a:r>
              <a:rPr sz="800" spc="6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1G</a:t>
            </a:r>
            <a:r>
              <a:rPr sz="800" spc="7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Courier New"/>
                <a:cs typeface="Courier New"/>
              </a:rPr>
              <a:t>Features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254374" y="2842149"/>
            <a:ext cx="96043" cy="8844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741326" y="2959968"/>
            <a:ext cx="191135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Removed</a:t>
            </a:r>
            <a:r>
              <a:rPr sz="800" spc="114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'unknown'</a:t>
            </a:r>
            <a:r>
              <a:rPr sz="800" spc="12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&amp;</a:t>
            </a:r>
            <a:r>
              <a:rPr sz="800" spc="114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Courier New"/>
                <a:cs typeface="Courier New"/>
              </a:rPr>
              <a:t>duplicates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52343" y="2842149"/>
            <a:ext cx="96043" cy="8844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539295" y="2959968"/>
            <a:ext cx="191135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pd.get_dummies()</a:t>
            </a:r>
            <a:r>
              <a:rPr sz="800" spc="13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→</a:t>
            </a:r>
            <a:r>
              <a:rPr sz="800" spc="13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54</a:t>
            </a:r>
            <a:r>
              <a:rPr sz="800" spc="13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Courier New"/>
                <a:cs typeface="Courier New"/>
              </a:rPr>
              <a:t>Features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841581" y="2842149"/>
            <a:ext cx="104774" cy="8844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431563" y="2959968"/>
            <a:ext cx="172275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Train:</a:t>
            </a:r>
            <a:r>
              <a:rPr sz="800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32,950</a:t>
            </a:r>
            <a:r>
              <a:rPr sz="800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|</a:t>
            </a:r>
            <a:r>
              <a:rPr sz="800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4738B"/>
                </a:solidFill>
                <a:latin typeface="Courier New"/>
                <a:cs typeface="Courier New"/>
              </a:rPr>
              <a:t>Test:</a:t>
            </a:r>
            <a:r>
              <a:rPr sz="800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Courier New"/>
                <a:cs typeface="Courier New"/>
              </a:rPr>
              <a:t>8,238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09600" y="3519785"/>
            <a:ext cx="342899" cy="3428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96900" y="3865457"/>
            <a:ext cx="3086735" cy="9182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44900"/>
              </a:lnSpc>
              <a:spcBef>
                <a:spcPts val="75"/>
              </a:spcBef>
            </a:pPr>
            <a:r>
              <a:rPr sz="1150" b="1" spc="-120" dirty="0">
                <a:solidFill>
                  <a:srgbClr val="0F2E5A"/>
                </a:solidFill>
                <a:latin typeface="Tahoma"/>
                <a:cs typeface="Tahoma"/>
              </a:rPr>
              <a:t>1.</a:t>
            </a:r>
            <a:r>
              <a:rPr sz="1150" b="1" spc="-8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30" dirty="0">
                <a:solidFill>
                  <a:srgbClr val="0F2E5A"/>
                </a:solidFill>
                <a:latin typeface="Tahoma"/>
                <a:cs typeface="Tahoma"/>
              </a:rPr>
              <a:t>Demographic</a:t>
            </a:r>
            <a:r>
              <a:rPr sz="1150" b="1" spc="-5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dirty="0">
                <a:solidFill>
                  <a:srgbClr val="0F2E5A"/>
                </a:solidFill>
                <a:latin typeface="Tahoma"/>
                <a:cs typeface="Tahoma"/>
              </a:rPr>
              <a:t>Aftributes</a:t>
            </a:r>
            <a:r>
              <a:rPr sz="1150" b="1" spc="430" dirty="0">
                <a:solidFill>
                  <a:srgbClr val="0F2E5A"/>
                </a:solidFill>
                <a:latin typeface="Tahoma"/>
                <a:cs typeface="Tahoma"/>
              </a:rPr>
              <a:t>         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age </a:t>
            </a:r>
            <a:r>
              <a:rPr sz="950" spc="-40" dirty="0">
                <a:solidFill>
                  <a:srgbClr val="475568"/>
                </a:solidFill>
                <a:latin typeface="Verdana"/>
                <a:cs typeface="Verdana"/>
              </a:rPr>
              <a:t>(Continuous),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job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45" dirty="0">
                <a:solidFill>
                  <a:srgbClr val="475568"/>
                </a:solidFill>
                <a:latin typeface="Verdana"/>
                <a:cs typeface="Verdana"/>
              </a:rPr>
              <a:t>(12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nominal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categories),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marital 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(married,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single,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divorced),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education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(primary, secondary,</a:t>
            </a:r>
            <a:r>
              <a:rPr sz="950" spc="-15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tertiary).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438650" y="3519785"/>
            <a:ext cx="342899" cy="34289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425950" y="3865457"/>
            <a:ext cx="3254375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000"/>
              </a:lnSpc>
              <a:spcBef>
                <a:spcPts val="100"/>
              </a:spcBef>
            </a:pPr>
            <a:r>
              <a:rPr sz="1150" b="1" spc="-40" dirty="0">
                <a:solidFill>
                  <a:srgbClr val="0F2E5A"/>
                </a:solidFill>
                <a:latin typeface="Tahoma"/>
                <a:cs typeface="Tahoma"/>
              </a:rPr>
              <a:t>2.</a:t>
            </a:r>
            <a:r>
              <a:rPr sz="1150" b="1" spc="-6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Financial</a:t>
            </a:r>
            <a:r>
              <a:rPr sz="1150" b="1" spc="-3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History</a:t>
            </a:r>
            <a:r>
              <a:rPr sz="1150" b="1" spc="500" dirty="0">
                <a:solidFill>
                  <a:srgbClr val="0F2E5A"/>
                </a:solidFill>
                <a:latin typeface="Tahoma"/>
                <a:cs typeface="Tahoma"/>
              </a:rPr>
              <a:t>              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default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(credit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50" dirty="0">
                <a:solidFill>
                  <a:srgbClr val="475568"/>
                </a:solidFill>
                <a:latin typeface="Verdana"/>
                <a:cs typeface="Verdana"/>
              </a:rPr>
              <a:t>in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default?),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balance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60" dirty="0">
                <a:solidFill>
                  <a:srgbClr val="475568"/>
                </a:solidFill>
                <a:latin typeface="Verdana"/>
                <a:cs typeface="Verdana"/>
              </a:rPr>
              <a:t>(yearly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balance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50" dirty="0">
                <a:solidFill>
                  <a:srgbClr val="475568"/>
                </a:solidFill>
                <a:latin typeface="Verdana"/>
                <a:cs typeface="Verdana"/>
              </a:rPr>
              <a:t>in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C),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housing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(housing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55" dirty="0">
                <a:solidFill>
                  <a:srgbClr val="475568"/>
                </a:solidFill>
                <a:latin typeface="Verdana"/>
                <a:cs typeface="Verdana"/>
              </a:rPr>
              <a:t>loan),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loan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(personal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loan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status).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267700" y="3519785"/>
            <a:ext cx="342899" cy="342899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255000" y="3865457"/>
            <a:ext cx="3123565" cy="9182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44900"/>
              </a:lnSpc>
              <a:spcBef>
                <a:spcPts val="75"/>
              </a:spcBef>
            </a:pP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3.</a:t>
            </a:r>
            <a:r>
              <a:rPr sz="1150" b="1" spc="-7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30" dirty="0">
                <a:solidFill>
                  <a:srgbClr val="0F2E5A"/>
                </a:solidFill>
                <a:latin typeface="Tahoma"/>
                <a:cs typeface="Tahoma"/>
              </a:rPr>
              <a:t>Campaign</a:t>
            </a: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Context</a:t>
            </a:r>
            <a:r>
              <a:rPr sz="1150" b="1" spc="500" dirty="0">
                <a:solidFill>
                  <a:srgbClr val="0F2E5A"/>
                </a:solidFill>
                <a:latin typeface="Tahoma"/>
                <a:cs typeface="Tahoma"/>
              </a:rPr>
              <a:t>           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contact</a:t>
            </a:r>
            <a:r>
              <a:rPr sz="95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(cellular/telephone),</a:t>
            </a:r>
            <a:r>
              <a:rPr sz="95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duration</a:t>
            </a:r>
            <a:r>
              <a:rPr sz="950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50" dirty="0">
                <a:solidFill>
                  <a:srgbClr val="475568"/>
                </a:solidFill>
                <a:latin typeface="Verdana"/>
                <a:cs typeface="Verdana"/>
              </a:rPr>
              <a:t>(last</a:t>
            </a:r>
            <a:r>
              <a:rPr sz="95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talk</a:t>
            </a:r>
            <a:r>
              <a:rPr sz="95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time</a:t>
            </a:r>
            <a:r>
              <a:rPr sz="950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in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sec),</a:t>
            </a:r>
            <a:r>
              <a:rPr sz="950" spc="-9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pdays</a:t>
            </a:r>
            <a:r>
              <a:rPr sz="950" spc="-9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40" dirty="0">
                <a:solidFill>
                  <a:srgbClr val="475568"/>
                </a:solidFill>
                <a:latin typeface="Verdana"/>
                <a:cs typeface="Verdana"/>
              </a:rPr>
              <a:t>(days</a:t>
            </a:r>
            <a:r>
              <a:rPr sz="950" spc="-9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passed),</a:t>
            </a:r>
            <a:r>
              <a:rPr sz="950" spc="-9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poutcome</a:t>
            </a:r>
            <a:r>
              <a:rPr sz="950" spc="-9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(previous outcome).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95325" y="3615035"/>
            <a:ext cx="171449" cy="15239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33900" y="3615035"/>
            <a:ext cx="152399" cy="1523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362950" y="3615035"/>
            <a:ext cx="152399" cy="152399"/>
          </a:xfrm>
          <a:prstGeom prst="rect">
            <a:avLst/>
          </a:prstGeom>
        </p:spPr>
      </p:pic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rgbClr val="FFFFFF"/>
                </a:solidFill>
              </a:rPr>
              <a:t>Task</a:t>
            </a:r>
            <a:r>
              <a:rPr spc="-85" dirty="0">
                <a:solidFill>
                  <a:srgbClr val="FFFFFF"/>
                </a:solidFill>
              </a:rPr>
              <a:t> </a:t>
            </a:r>
            <a:r>
              <a:rPr spc="-195" dirty="0">
                <a:solidFill>
                  <a:srgbClr val="FFFFFF"/>
                </a:solidFill>
              </a:rPr>
              <a:t>01</a:t>
            </a:r>
            <a:r>
              <a:rPr spc="-80" dirty="0">
                <a:solidFill>
                  <a:srgbClr val="FFFFFF"/>
                </a:solidFill>
              </a:rPr>
              <a:t> </a:t>
            </a:r>
            <a:r>
              <a:rPr spc="-70" dirty="0"/>
              <a:t>Bank</a:t>
            </a:r>
            <a:r>
              <a:rPr spc="-80" dirty="0"/>
              <a:t> </a:t>
            </a:r>
            <a:r>
              <a:rPr spc="-50" dirty="0"/>
              <a:t>Marketing</a:t>
            </a:r>
            <a:r>
              <a:rPr spc="-80" dirty="0"/>
              <a:t> </a:t>
            </a:r>
            <a:r>
              <a:rPr spc="-40" dirty="0"/>
              <a:t>Dataset</a:t>
            </a:r>
            <a:r>
              <a:rPr spc="-80" dirty="0"/>
              <a:t> </a:t>
            </a:r>
            <a:r>
              <a:rPr spc="-409" dirty="0"/>
              <a:t>&amp;</a:t>
            </a:r>
            <a:r>
              <a:rPr spc="-80" dirty="0"/>
              <a:t> </a:t>
            </a:r>
            <a:r>
              <a:rPr spc="-85" dirty="0"/>
              <a:t>Data</a:t>
            </a:r>
            <a:r>
              <a:rPr spc="-80" dirty="0"/>
              <a:t> </a:t>
            </a:r>
            <a:r>
              <a:rPr spc="-25" dirty="0"/>
              <a:t>Pipeline</a:t>
            </a:r>
          </a:p>
        </p:txBody>
      </p:sp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553575" y="6231900"/>
            <a:ext cx="2605648" cy="62352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2175" y="257175"/>
            <a:ext cx="1981199" cy="219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" y="2274540"/>
            <a:ext cx="5581649" cy="28860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181725" y="2274540"/>
            <a:ext cx="5581650" cy="2886075"/>
            <a:chOff x="6181725" y="2274540"/>
            <a:chExt cx="5581650" cy="288607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1725" y="2274540"/>
              <a:ext cx="5581649" cy="28860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2700" y="3598515"/>
              <a:ext cx="5219699" cy="140017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96200" y="2741265"/>
            <a:ext cx="3409949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96200" y="2950815"/>
            <a:ext cx="3409949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96200" y="3160365"/>
            <a:ext cx="3409949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96200" y="3369915"/>
            <a:ext cx="3409949" cy="12382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162800" y="4103340"/>
            <a:ext cx="4419600" cy="895350"/>
            <a:chOff x="7162800" y="4103340"/>
            <a:chExt cx="4419600" cy="89535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2800" y="4103340"/>
              <a:ext cx="2190749" cy="4286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91650" y="4103340"/>
              <a:ext cx="2190749" cy="4286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2800" y="4570065"/>
              <a:ext cx="2190749" cy="4286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91650" y="4570065"/>
              <a:ext cx="2190749" cy="428624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2741265"/>
            <a:ext cx="1500335" cy="1238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96200" y="2950815"/>
            <a:ext cx="784174" cy="1238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96200" y="3160365"/>
            <a:ext cx="511372" cy="1238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96200" y="3369915"/>
            <a:ext cx="340964" cy="1238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28625" y="6429375"/>
            <a:ext cx="11334749" cy="2285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47376" y="274764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35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5925" y="6498021"/>
            <a:ext cx="212407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Slide</a:t>
            </a:r>
            <a:r>
              <a:rPr sz="850" spc="-14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64738B"/>
                </a:solidFill>
                <a:latin typeface="Verdana"/>
                <a:cs typeface="Verdana"/>
              </a:rPr>
              <a:t>5</a:t>
            </a:r>
            <a:r>
              <a:rPr sz="850" spc="-14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|</a:t>
            </a:r>
            <a:r>
              <a:rPr sz="850" spc="-14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Decision</a:t>
            </a:r>
            <a:r>
              <a:rPr sz="850" spc="-14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55" dirty="0">
                <a:solidFill>
                  <a:srgbClr val="64738B"/>
                </a:solidFill>
                <a:latin typeface="Verdana"/>
                <a:cs typeface="Verdana"/>
              </a:rPr>
              <a:t>Tree</a:t>
            </a:r>
            <a:r>
              <a:rPr sz="850" spc="-14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Diagnostic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Metrics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69525" y="6498021"/>
            <a:ext cx="15830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85" dirty="0">
                <a:solidFill>
                  <a:srgbClr val="64738B"/>
                </a:solidFill>
                <a:latin typeface="Verdana"/>
                <a:cs typeface="Verdana"/>
              </a:rPr>
              <a:t>IILM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64738B"/>
                </a:solidFill>
                <a:latin typeface="Verdana"/>
                <a:cs typeface="Verdana"/>
              </a:rPr>
              <a:t>University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•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Greater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Noida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4350" y="2655491"/>
            <a:ext cx="4801870" cy="9105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ts val="875"/>
              </a:lnSpc>
              <a:spcBef>
                <a:spcPts val="110"/>
              </a:spcBef>
            </a:pP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from</a:t>
            </a:r>
            <a:r>
              <a:rPr sz="850" b="1" spc="-5" dirty="0">
                <a:solidFill>
                  <a:srgbClr val="D946EE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sklearn.tree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import </a:t>
            </a:r>
            <a:r>
              <a:rPr sz="850" b="1" spc="-10" dirty="0">
                <a:solidFill>
                  <a:srgbClr val="7B39ED"/>
                </a:solidFill>
                <a:latin typeface="Courier New"/>
                <a:cs typeface="Courier New"/>
              </a:rPr>
              <a:t>DecisionTreeClassifier</a:t>
            </a:r>
            <a:endParaRPr sz="850">
              <a:latin typeface="Courier New"/>
              <a:cs typeface="Courier New"/>
            </a:endParaRPr>
          </a:p>
          <a:p>
            <a:pPr marL="38100">
              <a:lnSpc>
                <a:spcPts val="875"/>
              </a:lnSpc>
            </a:pP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from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sklearn.metrics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import</a:t>
            </a:r>
            <a:r>
              <a:rPr sz="850" b="1" spc="-5" dirty="0">
                <a:solidFill>
                  <a:srgbClr val="D946EE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0284C7"/>
                </a:solidFill>
                <a:latin typeface="Courier New"/>
                <a:cs typeface="Courier New"/>
              </a:rPr>
              <a:t>classification_report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,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0284C7"/>
                </a:solidFill>
                <a:latin typeface="Courier New"/>
                <a:cs typeface="Courier New"/>
              </a:rPr>
              <a:t>confusion_matrix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850">
              <a:latin typeface="Courier New"/>
              <a:cs typeface="Courier New"/>
            </a:endParaRPr>
          </a:p>
          <a:p>
            <a:pPr marL="38100">
              <a:lnSpc>
                <a:spcPts val="875"/>
              </a:lnSpc>
            </a:pP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#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Pruned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Decision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Tree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spc="-10" dirty="0">
                <a:solidFill>
                  <a:srgbClr val="94A3B8"/>
                </a:solidFill>
                <a:latin typeface="Courier New"/>
                <a:cs typeface="Courier New"/>
              </a:rPr>
              <a:t>instantiation</a:t>
            </a:r>
            <a:endParaRPr sz="850">
              <a:latin typeface="Courier New"/>
              <a:cs typeface="Courier New"/>
            </a:endParaRPr>
          </a:p>
          <a:p>
            <a:pPr marL="103505">
              <a:lnSpc>
                <a:spcPts val="735"/>
              </a:lnSpc>
            </a:pP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clf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= </a:t>
            </a:r>
            <a:r>
              <a:rPr sz="850" b="1" spc="-10" dirty="0">
                <a:solidFill>
                  <a:srgbClr val="7B39ED"/>
                </a:solidFill>
                <a:latin typeface="Courier New"/>
                <a:cs typeface="Courier New"/>
              </a:rPr>
              <a:t>DecisionTreeClassifier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</a:t>
            </a:r>
            <a:endParaRPr sz="850">
              <a:latin typeface="Courier New"/>
              <a:cs typeface="Courier New"/>
            </a:endParaRPr>
          </a:p>
          <a:p>
            <a:pPr marL="103505">
              <a:lnSpc>
                <a:spcPts val="875"/>
              </a:lnSpc>
              <a:tabLst>
                <a:tab pos="366395" algn="l"/>
              </a:tabLst>
            </a:pPr>
            <a:r>
              <a:rPr sz="1275" spc="-75" baseline="-49019" dirty="0">
                <a:solidFill>
                  <a:srgbClr val="1E293B"/>
                </a:solidFill>
                <a:latin typeface="Courier New"/>
                <a:cs typeface="Courier New"/>
              </a:rPr>
              <a:t>)</a:t>
            </a:r>
            <a:r>
              <a:rPr sz="1275" baseline="-49019" dirty="0">
                <a:solidFill>
                  <a:srgbClr val="1E293B"/>
                </a:solidFill>
                <a:latin typeface="Courier New"/>
                <a:cs typeface="Courier New"/>
              </a:rPr>
              <a:t>	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criterion=</a:t>
            </a:r>
            <a:r>
              <a:rPr sz="850" dirty="0">
                <a:solidFill>
                  <a:srgbClr val="059668"/>
                </a:solidFill>
                <a:latin typeface="Courier New"/>
                <a:cs typeface="Courier New"/>
              </a:rPr>
              <a:t>'gini'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,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max_depth=</a:t>
            </a:r>
            <a:r>
              <a:rPr sz="850" dirty="0">
                <a:solidFill>
                  <a:srgbClr val="D97706"/>
                </a:solidFill>
                <a:latin typeface="Courier New"/>
                <a:cs typeface="Courier New"/>
              </a:rPr>
              <a:t>5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,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min_samples_leaf=</a:t>
            </a:r>
            <a:r>
              <a:rPr sz="850" dirty="0">
                <a:solidFill>
                  <a:srgbClr val="D97706"/>
                </a:solidFill>
                <a:latin typeface="Courier New"/>
                <a:cs typeface="Courier New"/>
              </a:rPr>
              <a:t>10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,</a:t>
            </a:r>
            <a:r>
              <a:rPr sz="850" spc="-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random_state=</a:t>
            </a:r>
            <a:r>
              <a:rPr sz="850" spc="-10" dirty="0">
                <a:solidFill>
                  <a:srgbClr val="D97706"/>
                </a:solidFill>
                <a:latin typeface="Courier New"/>
                <a:cs typeface="Courier New"/>
              </a:rPr>
              <a:t>42</a:t>
            </a:r>
            <a:endParaRPr sz="850">
              <a:latin typeface="Courier New"/>
              <a:cs typeface="Courier New"/>
            </a:endParaRPr>
          </a:p>
          <a:p>
            <a:pPr marL="103505">
              <a:lnSpc>
                <a:spcPct val="100000"/>
              </a:lnSpc>
              <a:spcBef>
                <a:spcPts val="450"/>
              </a:spcBef>
            </a:pP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clf.</a:t>
            </a:r>
            <a:r>
              <a:rPr sz="850" dirty="0">
                <a:solidFill>
                  <a:srgbClr val="0284C7"/>
                </a:solidFill>
                <a:latin typeface="Courier New"/>
                <a:cs typeface="Courier New"/>
              </a:rPr>
              <a:t>fit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(X_train,</a:t>
            </a:r>
            <a:r>
              <a:rPr sz="850" spc="-1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y_train)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750" y="3694129"/>
            <a:ext cx="2719070" cy="1593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#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Evaluation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on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20%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unseen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dirty="0">
                <a:solidFill>
                  <a:srgbClr val="94A3B8"/>
                </a:solidFill>
                <a:latin typeface="Courier New"/>
                <a:cs typeface="Courier New"/>
              </a:rPr>
              <a:t>test</a:t>
            </a:r>
            <a:r>
              <a:rPr sz="850" i="1" spc="5" dirty="0">
                <a:solidFill>
                  <a:srgbClr val="94A3B8"/>
                </a:solidFill>
                <a:latin typeface="Courier New"/>
                <a:cs typeface="Courier New"/>
              </a:rPr>
              <a:t> </a:t>
            </a:r>
            <a:r>
              <a:rPr sz="850" i="1" spc="-10" dirty="0">
                <a:solidFill>
                  <a:srgbClr val="94A3B8"/>
                </a:solidFill>
                <a:latin typeface="Courier New"/>
                <a:cs typeface="Courier New"/>
              </a:rPr>
              <a:t>partition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5434" y="3789423"/>
            <a:ext cx="186372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y_pred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=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clf.</a:t>
            </a:r>
            <a:r>
              <a:rPr sz="850" spc="-10" dirty="0">
                <a:solidFill>
                  <a:srgbClr val="0284C7"/>
                </a:solidFill>
                <a:latin typeface="Courier New"/>
                <a:cs typeface="Courier New"/>
              </a:rPr>
              <a:t>predict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(X_test)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9750" y="3882549"/>
            <a:ext cx="356997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print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(</a:t>
            </a:r>
            <a:r>
              <a:rPr sz="850" dirty="0">
                <a:solidFill>
                  <a:srgbClr val="0284C7"/>
                </a:solidFill>
                <a:latin typeface="Courier New"/>
                <a:cs typeface="Courier New"/>
              </a:rPr>
              <a:t>classification_report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(y_test,</a:t>
            </a:r>
            <a:r>
              <a:rPr sz="850" spc="-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y_pred,</a:t>
            </a:r>
            <a:r>
              <a:rPr sz="850" spc="-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digits=</a:t>
            </a:r>
            <a:r>
              <a:rPr sz="850" spc="-10" dirty="0">
                <a:solidFill>
                  <a:srgbClr val="D97706"/>
                </a:solidFill>
                <a:latin typeface="Courier New"/>
                <a:cs typeface="Courier New"/>
              </a:rPr>
              <a:t>3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))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50000" y="2417862"/>
            <a:ext cx="281876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-30" dirty="0">
                <a:solidFill>
                  <a:srgbClr val="0F2E5A"/>
                </a:solidFill>
                <a:latin typeface="Tahoma"/>
                <a:cs typeface="Tahoma"/>
              </a:rPr>
              <a:t>Feature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40" dirty="0">
                <a:solidFill>
                  <a:srgbClr val="0F2E5A"/>
                </a:solidFill>
                <a:latin typeface="Tahoma"/>
                <a:cs typeface="Tahoma"/>
              </a:rPr>
              <a:t>Importance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25" dirty="0">
                <a:solidFill>
                  <a:srgbClr val="0F2E5A"/>
                </a:solidFill>
                <a:latin typeface="Tahoma"/>
                <a:cs typeface="Tahoma"/>
              </a:rPr>
              <a:t>&amp;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Confusion</a:t>
            </a:r>
            <a:r>
              <a:rPr sz="1150" b="1" spc="-1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Matrix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52450" y="2431701"/>
            <a:ext cx="76199" cy="7619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85800" y="2431701"/>
            <a:ext cx="76199" cy="7619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19150" y="2431701"/>
            <a:ext cx="76199" cy="7619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996950" y="2381474"/>
            <a:ext cx="1974214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10" dirty="0">
                <a:solidFill>
                  <a:srgbClr val="64738B"/>
                </a:solidFill>
                <a:latin typeface="Courier New"/>
                <a:cs typeface="Courier New"/>
              </a:rPr>
              <a:t>purchase_classifier_pipeline.py</a:t>
            </a:r>
            <a:endParaRPr sz="800">
              <a:latin typeface="Courier New"/>
              <a:cs typeface="Courier New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6519090" y="2728455"/>
          <a:ext cx="5027930" cy="77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R="1791970" algn="r">
                        <a:lnSpc>
                          <a:spcPct val="100000"/>
                        </a:lnSpc>
                      </a:pPr>
                      <a:r>
                        <a:rPr sz="850" spc="-1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call_duration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958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800" b="1" spc="-10" dirty="0">
                          <a:solidFill>
                            <a:srgbClr val="64738B"/>
                          </a:solidFill>
                          <a:latin typeface="Courier New"/>
                          <a:cs typeface="Courier New"/>
                        </a:rPr>
                        <a:t>44.2%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179197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50" spc="-1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poutcome_success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79958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800" b="1" spc="-10" dirty="0">
                          <a:solidFill>
                            <a:srgbClr val="64738B"/>
                          </a:solidFill>
                          <a:latin typeface="Courier New"/>
                          <a:cs typeface="Courier New"/>
                        </a:rPr>
                        <a:t>22.8%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179197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50" spc="-1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account_balance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79958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800" b="1" spc="-10" dirty="0">
                          <a:solidFill>
                            <a:srgbClr val="64738B"/>
                          </a:solidFill>
                          <a:latin typeface="Courier New"/>
                          <a:cs typeface="Courier New"/>
                        </a:rPr>
                        <a:t>15.1%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179197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50" spc="-1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client_age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79958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800" b="1" spc="-20" dirty="0">
                          <a:solidFill>
                            <a:srgbClr val="64738B"/>
                          </a:solidFill>
                          <a:latin typeface="Courier New"/>
                          <a:cs typeface="Courier New"/>
                        </a:rPr>
                        <a:t>9.8%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6350000" y="3648492"/>
            <a:ext cx="2304415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TEST</a:t>
            </a:r>
            <a:r>
              <a:rPr sz="750" b="1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SET</a:t>
            </a:r>
            <a:r>
              <a:rPr sz="750" b="1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CONFUSION</a:t>
            </a:r>
            <a:r>
              <a:rPr sz="750" b="1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MATRIX</a:t>
            </a:r>
            <a:r>
              <a:rPr sz="750" b="1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(N</a:t>
            </a:r>
            <a:r>
              <a:rPr sz="750" b="1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dirty="0">
                <a:solidFill>
                  <a:srgbClr val="64738B"/>
                </a:solidFill>
                <a:latin typeface="Courier New"/>
                <a:cs typeface="Courier New"/>
              </a:rPr>
              <a:t>=</a:t>
            </a:r>
            <a:r>
              <a:rPr sz="750" b="1" spc="9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750" b="1" spc="-10" dirty="0">
                <a:solidFill>
                  <a:srgbClr val="64738B"/>
                </a:solidFill>
                <a:latin typeface="Courier New"/>
                <a:cs typeface="Courier New"/>
              </a:rPr>
              <a:t>8,238):</a:t>
            </a:r>
            <a:endParaRPr sz="750">
              <a:latin typeface="Courier New"/>
              <a:cs typeface="Courier New"/>
            </a:endParaRPr>
          </a:p>
          <a:p>
            <a:pPr marR="136525" algn="r">
              <a:lnSpc>
                <a:spcPct val="100000"/>
              </a:lnSpc>
              <a:spcBef>
                <a:spcPts val="840"/>
              </a:spcBef>
            </a:pPr>
            <a:r>
              <a:rPr sz="800" b="1" dirty="0">
                <a:solidFill>
                  <a:srgbClr val="64738B"/>
                </a:solidFill>
                <a:latin typeface="Courier New"/>
                <a:cs typeface="Courier New"/>
              </a:rPr>
              <a:t>Pred:</a:t>
            </a:r>
            <a:r>
              <a:rPr sz="800" b="1" spc="10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b="1" spc="-25" dirty="0">
                <a:solidFill>
                  <a:srgbClr val="64738B"/>
                </a:solidFill>
                <a:latin typeface="Courier New"/>
                <a:cs typeface="Courier New"/>
              </a:rPr>
              <a:t>NO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191428" y="3871183"/>
            <a:ext cx="59118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64738B"/>
                </a:solidFill>
                <a:latin typeface="Courier New"/>
                <a:cs typeface="Courier New"/>
              </a:rPr>
              <a:t>Pred:</a:t>
            </a:r>
            <a:r>
              <a:rPr sz="800" b="1" spc="10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b="1" spc="-25" dirty="0">
                <a:solidFill>
                  <a:srgbClr val="64738B"/>
                </a:solidFill>
                <a:latin typeface="Courier New"/>
                <a:cs typeface="Courier New"/>
              </a:rPr>
              <a:t>YES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10969" y="4237896"/>
            <a:ext cx="46545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64738B"/>
                </a:solidFill>
                <a:latin typeface="Courier New"/>
                <a:cs typeface="Courier New"/>
              </a:rPr>
              <a:t>Act:</a:t>
            </a:r>
            <a:r>
              <a:rPr sz="800" b="1" spc="8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b="1" spc="-25" dirty="0">
                <a:solidFill>
                  <a:srgbClr val="64738B"/>
                </a:solidFill>
                <a:latin typeface="Courier New"/>
                <a:cs typeface="Courier New"/>
              </a:rPr>
              <a:t>NO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79536" y="4704621"/>
            <a:ext cx="5283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64738B"/>
                </a:solidFill>
                <a:latin typeface="Courier New"/>
                <a:cs typeface="Courier New"/>
              </a:rPr>
              <a:t>Act:</a:t>
            </a:r>
            <a:r>
              <a:rPr sz="800" b="1" spc="8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800" b="1" spc="-25" dirty="0">
                <a:solidFill>
                  <a:srgbClr val="64738B"/>
                </a:solidFill>
                <a:latin typeface="Courier New"/>
                <a:cs typeface="Courier New"/>
              </a:rPr>
              <a:t>YES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65455" y="4156078"/>
            <a:ext cx="385445" cy="3911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850" b="1" spc="-10" dirty="0">
                <a:solidFill>
                  <a:srgbClr val="0368A1"/>
                </a:solidFill>
                <a:latin typeface="Courier New"/>
                <a:cs typeface="Courier New"/>
              </a:rPr>
              <a:t>7,024</a:t>
            </a:r>
            <a:endParaRPr sz="850">
              <a:latin typeface="Courier New"/>
              <a:cs typeface="Courier New"/>
            </a:endParaRPr>
          </a:p>
          <a:p>
            <a:pPr marL="12700" marR="5080" algn="ctr">
              <a:lnSpc>
                <a:spcPct val="103800"/>
              </a:lnSpc>
              <a:spcBef>
                <a:spcPts val="95"/>
              </a:spcBef>
            </a:pPr>
            <a:r>
              <a:rPr sz="650" spc="-25" dirty="0">
                <a:solidFill>
                  <a:srgbClr val="0368A1"/>
                </a:solidFill>
                <a:latin typeface="Courier New"/>
                <a:cs typeface="Courier New"/>
              </a:rPr>
              <a:t>TN </a:t>
            </a:r>
            <a:r>
              <a:rPr sz="650" spc="-10" dirty="0">
                <a:solidFill>
                  <a:srgbClr val="0368A1"/>
                </a:solidFill>
                <a:latin typeface="Courier New"/>
                <a:cs typeface="Courier New"/>
              </a:rPr>
              <a:t>(85.3%)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320022" y="4156078"/>
            <a:ext cx="334010" cy="3911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235"/>
              </a:spcBef>
            </a:pPr>
            <a:r>
              <a:rPr sz="850" b="1" spc="-25" dirty="0">
                <a:solidFill>
                  <a:srgbClr val="B91B1B"/>
                </a:solidFill>
                <a:latin typeface="Courier New"/>
                <a:cs typeface="Courier New"/>
              </a:rPr>
              <a:t>285</a:t>
            </a:r>
            <a:endParaRPr sz="850">
              <a:latin typeface="Courier New"/>
              <a:cs typeface="Courier New"/>
            </a:endParaRPr>
          </a:p>
          <a:p>
            <a:pPr marL="12700" marR="5080" indent="102870">
              <a:lnSpc>
                <a:spcPct val="103800"/>
              </a:lnSpc>
              <a:spcBef>
                <a:spcPts val="95"/>
              </a:spcBef>
            </a:pPr>
            <a:r>
              <a:rPr sz="650" spc="-25" dirty="0">
                <a:solidFill>
                  <a:srgbClr val="B91B1B"/>
                </a:solidFill>
                <a:latin typeface="Courier New"/>
                <a:cs typeface="Courier New"/>
              </a:rPr>
              <a:t>FP </a:t>
            </a:r>
            <a:r>
              <a:rPr sz="650" spc="-10" dirty="0">
                <a:solidFill>
                  <a:srgbClr val="B91B1B"/>
                </a:solidFill>
                <a:latin typeface="Courier New"/>
                <a:cs typeface="Courier New"/>
              </a:rPr>
              <a:t>(3.5%)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91172" y="4622804"/>
            <a:ext cx="334010" cy="3911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235"/>
              </a:spcBef>
            </a:pPr>
            <a:r>
              <a:rPr sz="850" b="1" spc="-25" dirty="0">
                <a:solidFill>
                  <a:srgbClr val="B91B1B"/>
                </a:solidFill>
                <a:latin typeface="Courier New"/>
                <a:cs typeface="Courier New"/>
              </a:rPr>
              <a:t>587</a:t>
            </a:r>
            <a:endParaRPr sz="850">
              <a:latin typeface="Courier New"/>
              <a:cs typeface="Courier New"/>
            </a:endParaRPr>
          </a:p>
          <a:p>
            <a:pPr marL="12700" marR="5080" indent="102870">
              <a:lnSpc>
                <a:spcPct val="103800"/>
              </a:lnSpc>
              <a:spcBef>
                <a:spcPts val="95"/>
              </a:spcBef>
            </a:pPr>
            <a:r>
              <a:rPr sz="650" spc="-25" dirty="0">
                <a:solidFill>
                  <a:srgbClr val="B91B1B"/>
                </a:solidFill>
                <a:latin typeface="Courier New"/>
                <a:cs typeface="Courier New"/>
              </a:rPr>
              <a:t>FN </a:t>
            </a:r>
            <a:r>
              <a:rPr sz="650" spc="-10" dirty="0">
                <a:solidFill>
                  <a:srgbClr val="B91B1B"/>
                </a:solidFill>
                <a:latin typeface="Courier New"/>
                <a:cs typeface="Courier New"/>
              </a:rPr>
              <a:t>(7.1%)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320022" y="4622804"/>
            <a:ext cx="334010" cy="3911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235"/>
              </a:spcBef>
            </a:pPr>
            <a:r>
              <a:rPr sz="850" b="1" spc="-25" dirty="0">
                <a:solidFill>
                  <a:srgbClr val="047857"/>
                </a:solidFill>
                <a:latin typeface="Courier New"/>
                <a:cs typeface="Courier New"/>
              </a:rPr>
              <a:t>342</a:t>
            </a:r>
            <a:endParaRPr sz="850">
              <a:latin typeface="Courier New"/>
              <a:cs typeface="Courier New"/>
            </a:endParaRPr>
          </a:p>
          <a:p>
            <a:pPr marL="12700" marR="5080" indent="102870">
              <a:lnSpc>
                <a:spcPct val="103800"/>
              </a:lnSpc>
              <a:spcBef>
                <a:spcPts val="95"/>
              </a:spcBef>
            </a:pPr>
            <a:r>
              <a:rPr sz="650" spc="-25" dirty="0">
                <a:solidFill>
                  <a:srgbClr val="047857"/>
                </a:solidFill>
                <a:latin typeface="Courier New"/>
                <a:cs typeface="Courier New"/>
              </a:rPr>
              <a:t>TP </a:t>
            </a:r>
            <a:r>
              <a:rPr sz="650" spc="-10" dirty="0">
                <a:solidFill>
                  <a:srgbClr val="047857"/>
                </a:solidFill>
                <a:latin typeface="Courier New"/>
                <a:cs typeface="Courier New"/>
              </a:rPr>
              <a:t>(4.1%)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2" name="object 4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rgbClr val="FFFFFF"/>
                </a:solidFill>
              </a:rPr>
              <a:t>Task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spc="-195" dirty="0">
                <a:solidFill>
                  <a:srgbClr val="FFFFFF"/>
                </a:solidFill>
              </a:rPr>
              <a:t>01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spc="-50" dirty="0"/>
              <a:t>Decision</a:t>
            </a:r>
            <a:r>
              <a:rPr spc="-114" dirty="0"/>
              <a:t> </a:t>
            </a:r>
            <a:r>
              <a:rPr spc="-120" dirty="0"/>
              <a:t>Tree: </a:t>
            </a:r>
            <a:r>
              <a:rPr spc="-90" dirty="0"/>
              <a:t>Training</a:t>
            </a:r>
            <a:r>
              <a:rPr spc="-50" dirty="0"/>
              <a:t> </a:t>
            </a:r>
            <a:r>
              <a:rPr spc="-409" dirty="0"/>
              <a:t>&amp;</a:t>
            </a:r>
            <a:r>
              <a:rPr spc="-55" dirty="0"/>
              <a:t> </a:t>
            </a:r>
            <a:r>
              <a:rPr spc="-70" dirty="0"/>
              <a:t>Feature</a:t>
            </a:r>
            <a:r>
              <a:rPr spc="-50" dirty="0"/>
              <a:t> </a:t>
            </a:r>
            <a:r>
              <a:rPr spc="-45" dirty="0"/>
              <a:t>Importance</a:t>
            </a:r>
          </a:p>
        </p:txBody>
      </p: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553575" y="6231900"/>
            <a:ext cx="2605648" cy="62352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8875" y="257175"/>
            <a:ext cx="1714499" cy="219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" y="2674590"/>
            <a:ext cx="3676649" cy="20859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7675" y="2674590"/>
            <a:ext cx="3676649" cy="208597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086725" y="2674590"/>
            <a:ext cx="3676650" cy="2085975"/>
            <a:chOff x="8086725" y="2674590"/>
            <a:chExt cx="3676650" cy="208597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86725" y="2674590"/>
              <a:ext cx="3676649" cy="20859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7700" y="3749426"/>
              <a:ext cx="3314699" cy="71095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8625" y="6429375"/>
            <a:ext cx="11334749" cy="2285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7376" y="274764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35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925" y="6498021"/>
            <a:ext cx="180530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Slide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5" dirty="0">
                <a:solidFill>
                  <a:srgbClr val="64738B"/>
                </a:solidFill>
                <a:latin typeface="Verdana"/>
                <a:cs typeface="Verdana"/>
              </a:rPr>
              <a:t>6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|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NLP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64738B"/>
                </a:solidFill>
                <a:latin typeface="Verdana"/>
                <a:cs typeface="Verdana"/>
              </a:rPr>
              <a:t>Lexical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64738B"/>
                </a:solidFill>
                <a:latin typeface="Verdana"/>
                <a:cs typeface="Verdana"/>
              </a:rPr>
              <a:t>Polarity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64738B"/>
                </a:solidFill>
                <a:latin typeface="Verdana"/>
                <a:cs typeface="Verdana"/>
              </a:rPr>
              <a:t>Theory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9525" y="6498021"/>
            <a:ext cx="15830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85" dirty="0">
                <a:solidFill>
                  <a:srgbClr val="64738B"/>
                </a:solidFill>
                <a:latin typeface="Verdana"/>
                <a:cs typeface="Verdana"/>
              </a:rPr>
              <a:t>IILM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64738B"/>
                </a:solidFill>
                <a:latin typeface="Verdana"/>
                <a:cs typeface="Verdana"/>
              </a:rPr>
              <a:t>University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•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Greater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Noida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0" y="2836515"/>
            <a:ext cx="342899" cy="3428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96900" y="3182187"/>
            <a:ext cx="3235960" cy="113347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45900"/>
              </a:lnSpc>
              <a:spcBef>
                <a:spcPts val="60"/>
              </a:spcBef>
            </a:pPr>
            <a:r>
              <a:rPr sz="1150" b="1" spc="-50" dirty="0">
                <a:solidFill>
                  <a:srgbClr val="0F2E5A"/>
                </a:solidFill>
                <a:latin typeface="Tahoma"/>
                <a:cs typeface="Tahoma"/>
              </a:rPr>
              <a:t>What</a:t>
            </a: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dirty="0">
                <a:solidFill>
                  <a:srgbClr val="0F2E5A"/>
                </a:solidFill>
                <a:latin typeface="Tahoma"/>
                <a:cs typeface="Tahoma"/>
              </a:rPr>
              <a:t>is</a:t>
            </a: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Sentiment</a:t>
            </a:r>
            <a:r>
              <a:rPr sz="1150" b="1" spc="-4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Analysis?</a:t>
            </a:r>
            <a:r>
              <a:rPr sz="1150" b="1" spc="500" dirty="0">
                <a:solidFill>
                  <a:srgbClr val="0F2E5A"/>
                </a:solidFill>
                <a:latin typeface="Tahoma"/>
                <a:cs typeface="Tahoma"/>
              </a:rPr>
              <a:t>       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Natural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Language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Processing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60" dirty="0">
                <a:solidFill>
                  <a:srgbClr val="475568"/>
                </a:solidFill>
                <a:latin typeface="Verdana"/>
                <a:cs typeface="Verdana"/>
              </a:rPr>
              <a:t>(NLP)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technique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to systematically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extract,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quantify,</a:t>
            </a:r>
            <a:r>
              <a:rPr sz="95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categorize subjective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opinions,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customer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attitudes,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emotional valences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from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unstructured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text.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38650" y="2836515"/>
            <a:ext cx="342899" cy="3428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425950" y="3182187"/>
            <a:ext cx="3328670" cy="9182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44900"/>
              </a:lnSpc>
              <a:spcBef>
                <a:spcPts val="75"/>
              </a:spcBef>
            </a:pP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Polarity</a:t>
            </a:r>
            <a:r>
              <a:rPr sz="1150" b="1" spc="-6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25" dirty="0">
                <a:solidFill>
                  <a:srgbClr val="0F2E5A"/>
                </a:solidFill>
                <a:latin typeface="Tahoma"/>
                <a:cs typeface="Tahoma"/>
              </a:rPr>
              <a:t>&amp;</a:t>
            </a:r>
            <a:r>
              <a:rPr sz="1150" b="1" spc="-4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Subjectivity</a:t>
            </a:r>
            <a:r>
              <a:rPr sz="1150" b="1" spc="500" dirty="0">
                <a:solidFill>
                  <a:srgbClr val="0F2E5A"/>
                </a:solidFill>
                <a:latin typeface="Tahoma"/>
                <a:cs typeface="Tahoma"/>
              </a:rPr>
              <a:t>               </a:t>
            </a:r>
            <a:r>
              <a:rPr sz="950" spc="-65" dirty="0">
                <a:solidFill>
                  <a:srgbClr val="475568"/>
                </a:solidFill>
                <a:latin typeface="Verdana"/>
                <a:cs typeface="Verdana"/>
              </a:rPr>
              <a:t>Text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is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mapped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along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a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continuous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mathematical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polarity 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interval</a:t>
            </a:r>
            <a:r>
              <a:rPr sz="950" spc="-1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s</a:t>
            </a:r>
            <a:r>
              <a:rPr sz="950" spc="-1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MS PGothic"/>
                <a:cs typeface="MS PGothic"/>
              </a:rPr>
              <a:t>∈</a:t>
            </a:r>
            <a:r>
              <a:rPr sz="950" spc="-90" dirty="0">
                <a:solidFill>
                  <a:srgbClr val="475568"/>
                </a:solidFill>
                <a:latin typeface="MS PGothic"/>
                <a:cs typeface="MS PGothic"/>
              </a:rPr>
              <a:t> </a:t>
            </a:r>
            <a:r>
              <a:rPr sz="950" spc="-70" dirty="0">
                <a:solidFill>
                  <a:srgbClr val="475568"/>
                </a:solidFill>
                <a:latin typeface="Verdana"/>
                <a:cs typeface="Verdana"/>
              </a:rPr>
              <a:t>[-</a:t>
            </a:r>
            <a:r>
              <a:rPr sz="950" spc="-75" dirty="0">
                <a:solidFill>
                  <a:srgbClr val="475568"/>
                </a:solidFill>
                <a:latin typeface="Verdana"/>
                <a:cs typeface="Verdana"/>
              </a:rPr>
              <a:t>1.0,</a:t>
            </a:r>
            <a:r>
              <a:rPr sz="950" spc="-1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+1.0]</a:t>
            </a:r>
            <a:r>
              <a:rPr sz="950" spc="-13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alongside</a:t>
            </a:r>
            <a:r>
              <a:rPr sz="950" spc="-13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a</a:t>
            </a:r>
            <a:r>
              <a:rPr sz="950" spc="-13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subjectivity</a:t>
            </a:r>
            <a:r>
              <a:rPr sz="950" spc="-13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metric</a:t>
            </a:r>
            <a:r>
              <a:rPr sz="950" spc="5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sub</a:t>
            </a:r>
            <a:r>
              <a:rPr sz="950" spc="-15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MS PGothic"/>
                <a:cs typeface="MS PGothic"/>
              </a:rPr>
              <a:t>∈</a:t>
            </a:r>
            <a:r>
              <a:rPr sz="950" spc="-105" dirty="0">
                <a:solidFill>
                  <a:srgbClr val="475568"/>
                </a:solidFill>
                <a:latin typeface="MS PGothic"/>
                <a:cs typeface="MS PGothic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[0.0,</a:t>
            </a:r>
            <a:r>
              <a:rPr sz="9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1.0]: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67700" y="2836515"/>
            <a:ext cx="342899" cy="3428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255000" y="3182187"/>
            <a:ext cx="2859405" cy="48704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Decision</a:t>
            </a: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Boundaries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Thresholding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applied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for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multi-class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assignment: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4850" y="2931765"/>
            <a:ext cx="152399" cy="1523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14850" y="2931765"/>
            <a:ext cx="190499" cy="1523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41739" y="4203650"/>
            <a:ext cx="1508520" cy="25211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362950" y="2931765"/>
            <a:ext cx="152399" cy="1523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331200" y="3772782"/>
            <a:ext cx="748030" cy="5842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540"/>
              </a:spcBef>
              <a:buChar char="•"/>
              <a:tabLst>
                <a:tab pos="143510" algn="l"/>
              </a:tabLst>
            </a:pPr>
            <a:r>
              <a:rPr sz="850" b="1" spc="-10" dirty="0">
                <a:solidFill>
                  <a:srgbClr val="059668"/>
                </a:solidFill>
                <a:latin typeface="Courier New"/>
                <a:cs typeface="Courier New"/>
              </a:rPr>
              <a:t>Positive:</a:t>
            </a:r>
            <a:endParaRPr sz="850">
              <a:latin typeface="Courier New"/>
              <a:cs typeface="Courier New"/>
            </a:endParaRPr>
          </a:p>
          <a:p>
            <a:pPr marL="143510" indent="-130810">
              <a:lnSpc>
                <a:spcPct val="100000"/>
              </a:lnSpc>
              <a:spcBef>
                <a:spcPts val="450"/>
              </a:spcBef>
              <a:buChar char="•"/>
              <a:tabLst>
                <a:tab pos="143510" algn="l"/>
              </a:tabLst>
            </a:pPr>
            <a:r>
              <a:rPr sz="850" b="1" spc="-10" dirty="0">
                <a:solidFill>
                  <a:srgbClr val="475568"/>
                </a:solidFill>
                <a:latin typeface="Courier New"/>
                <a:cs typeface="Courier New"/>
              </a:rPr>
              <a:t>Neutral:</a:t>
            </a:r>
            <a:endParaRPr sz="850">
              <a:latin typeface="Courier New"/>
              <a:cs typeface="Courier New"/>
            </a:endParaRPr>
          </a:p>
          <a:p>
            <a:pPr marL="143510" indent="-130810">
              <a:lnSpc>
                <a:spcPct val="100000"/>
              </a:lnSpc>
              <a:spcBef>
                <a:spcPts val="445"/>
              </a:spcBef>
              <a:buChar char="•"/>
              <a:tabLst>
                <a:tab pos="143510" algn="l"/>
              </a:tabLst>
            </a:pPr>
            <a:r>
              <a:rPr sz="850" b="1" spc="-10" dirty="0">
                <a:solidFill>
                  <a:srgbClr val="DC2626"/>
                </a:solidFill>
                <a:latin typeface="Courier New"/>
                <a:cs typeface="Courier New"/>
              </a:rPr>
              <a:t>Negative: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rgbClr val="FFFFFF"/>
                </a:solidFill>
              </a:rPr>
              <a:t>Task</a:t>
            </a:r>
            <a:r>
              <a:rPr spc="-85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02</a:t>
            </a:r>
            <a:r>
              <a:rPr spc="-130" dirty="0">
                <a:solidFill>
                  <a:srgbClr val="FFFFFF"/>
                </a:solidFill>
              </a:rPr>
              <a:t> </a:t>
            </a:r>
            <a:r>
              <a:rPr spc="-50" dirty="0"/>
              <a:t>Sentiment</a:t>
            </a:r>
            <a:r>
              <a:rPr spc="-105" dirty="0"/>
              <a:t> </a:t>
            </a:r>
            <a:r>
              <a:rPr spc="-40" dirty="0"/>
              <a:t>Analysis:</a:t>
            </a:r>
            <a:r>
              <a:rPr spc="-90" dirty="0"/>
              <a:t> </a:t>
            </a:r>
            <a:r>
              <a:rPr dirty="0"/>
              <a:t>Concept</a:t>
            </a:r>
            <a:r>
              <a:rPr spc="-95" dirty="0"/>
              <a:t> </a:t>
            </a:r>
            <a:r>
              <a:rPr spc="-409" dirty="0"/>
              <a:t>&amp;</a:t>
            </a:r>
            <a:r>
              <a:rPr spc="-85" dirty="0"/>
              <a:t> </a:t>
            </a:r>
            <a:r>
              <a:rPr spc="-135" dirty="0"/>
              <a:t>NLP</a:t>
            </a:r>
            <a:r>
              <a:rPr spc="-85" dirty="0"/>
              <a:t> </a:t>
            </a:r>
            <a:r>
              <a:rPr spc="-20" dirty="0"/>
              <a:t>Foundations</a:t>
            </a:r>
          </a:p>
        </p:txBody>
      </p:sp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553575" y="6231900"/>
            <a:ext cx="2605648" cy="623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376" y="274764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35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6498021"/>
            <a:ext cx="248920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Slide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75" dirty="0">
                <a:solidFill>
                  <a:srgbClr val="64738B"/>
                </a:solidFill>
                <a:latin typeface="Verdana"/>
                <a:cs typeface="Verdana"/>
              </a:rPr>
              <a:t>7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|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NLP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Preprocessing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90" dirty="0">
                <a:solidFill>
                  <a:srgbClr val="64738B"/>
                </a:solidFill>
                <a:latin typeface="Verdana"/>
                <a:cs typeface="Verdana"/>
              </a:rPr>
              <a:t>h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Feature</a:t>
            </a:r>
            <a:r>
              <a:rPr sz="850" spc="-13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Extraction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9525" y="6498021"/>
            <a:ext cx="15830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85" dirty="0">
                <a:solidFill>
                  <a:srgbClr val="64738B"/>
                </a:solidFill>
                <a:latin typeface="Verdana"/>
                <a:cs typeface="Verdana"/>
              </a:rPr>
              <a:t>IILM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64738B"/>
                </a:solidFill>
                <a:latin typeface="Verdana"/>
                <a:cs typeface="Verdana"/>
              </a:rPr>
              <a:t>University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•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Greater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Noida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2850" y="2606675"/>
            <a:ext cx="61658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import </a:t>
            </a:r>
            <a:r>
              <a:rPr sz="850" spc="-25" dirty="0">
                <a:solidFill>
                  <a:srgbClr val="1E293B"/>
                </a:solidFill>
                <a:latin typeface="Courier New"/>
                <a:cs typeface="Courier New"/>
              </a:rPr>
              <a:t>re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1009" y="4214447"/>
            <a:ext cx="81343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return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score</a:t>
            </a:r>
            <a:endParaRPr sz="85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5550" y="2382886"/>
            <a:ext cx="76199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8900" y="2382886"/>
            <a:ext cx="76199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72250" y="2382886"/>
            <a:ext cx="76199" cy="76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292850" y="2332658"/>
            <a:ext cx="4095750" cy="1945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25"/>
              </a:spcBef>
            </a:pPr>
            <a:r>
              <a:rPr sz="800" b="1" spc="-10" dirty="0">
                <a:solidFill>
                  <a:srgbClr val="64738B"/>
                </a:solidFill>
                <a:latin typeface="Courier New"/>
                <a:cs typeface="Courier New"/>
              </a:rPr>
              <a:t>nlp_sentiment_cleaner.py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1908175">
              <a:lnSpc>
                <a:spcPct val="71900"/>
              </a:lnSpc>
            </a:pP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from</a:t>
            </a:r>
            <a:r>
              <a:rPr sz="850" b="1" spc="5" dirty="0">
                <a:solidFill>
                  <a:srgbClr val="D946EE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nltk.corpus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import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stopwords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from</a:t>
            </a:r>
            <a:r>
              <a:rPr sz="850" b="1" spc="5" dirty="0">
                <a:solidFill>
                  <a:srgbClr val="D946EE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textblob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import </a:t>
            </a:r>
            <a:r>
              <a:rPr sz="850" b="1" spc="-10" dirty="0">
                <a:solidFill>
                  <a:srgbClr val="7B39ED"/>
                </a:solidFill>
                <a:latin typeface="Courier New"/>
                <a:cs typeface="Courier New"/>
              </a:rPr>
              <a:t>TextBlob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850">
              <a:latin typeface="Courier New"/>
              <a:cs typeface="Courier New"/>
            </a:endParaRPr>
          </a:p>
          <a:p>
            <a:pPr marL="78105">
              <a:lnSpc>
                <a:spcPct val="100000"/>
              </a:lnSpc>
            </a:pP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stop_words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= </a:t>
            </a:r>
            <a:r>
              <a:rPr sz="850" spc="-10" dirty="0">
                <a:solidFill>
                  <a:srgbClr val="0284C7"/>
                </a:solidFill>
                <a:latin typeface="Courier New"/>
                <a:cs typeface="Courier New"/>
              </a:rPr>
              <a:t>set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(stopwords.</a:t>
            </a:r>
            <a:r>
              <a:rPr sz="850" spc="-10" dirty="0">
                <a:solidFill>
                  <a:srgbClr val="0284C7"/>
                </a:solidFill>
                <a:latin typeface="Courier New"/>
                <a:cs typeface="Courier New"/>
              </a:rPr>
              <a:t>words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</a:t>
            </a:r>
            <a:r>
              <a:rPr sz="850" spc="-10" dirty="0">
                <a:solidFill>
                  <a:srgbClr val="059668"/>
                </a:solidFill>
                <a:latin typeface="Courier New"/>
                <a:cs typeface="Courier New"/>
              </a:rPr>
              <a:t>'english'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))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875"/>
              </a:lnSpc>
            </a:pP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def</a:t>
            </a:r>
            <a:r>
              <a:rPr sz="850" b="1" spc="5" dirty="0">
                <a:solidFill>
                  <a:srgbClr val="D946EE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0284C7"/>
                </a:solidFill>
                <a:latin typeface="Courier New"/>
                <a:cs typeface="Courier New"/>
              </a:rPr>
              <a:t>preprocess_tweet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(raw_text):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ts val="735"/>
              </a:lnSpc>
            </a:pP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text</a:t>
            </a:r>
            <a:r>
              <a:rPr sz="850" spc="-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=</a:t>
            </a:r>
            <a:r>
              <a:rPr sz="850" spc="-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re.</a:t>
            </a:r>
            <a:r>
              <a:rPr sz="850" dirty="0">
                <a:solidFill>
                  <a:srgbClr val="0284C7"/>
                </a:solidFill>
                <a:latin typeface="Courier New"/>
                <a:cs typeface="Courier New"/>
              </a:rPr>
              <a:t>sub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(</a:t>
            </a:r>
            <a:r>
              <a:rPr sz="850" dirty="0">
                <a:solidFill>
                  <a:srgbClr val="059668"/>
                </a:solidFill>
                <a:latin typeface="Courier New"/>
                <a:cs typeface="Courier New"/>
              </a:rPr>
              <a:t>r'http\S+|@\w+|#\w+'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,</a:t>
            </a:r>
            <a:r>
              <a:rPr sz="850" spc="-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059668"/>
                </a:solidFill>
                <a:latin typeface="Courier New"/>
                <a:cs typeface="Courier New"/>
              </a:rPr>
              <a:t>''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,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raw_text)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ts val="735"/>
              </a:lnSpc>
            </a:pP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text</a:t>
            </a:r>
            <a:r>
              <a:rPr sz="850" spc="2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=</a:t>
            </a:r>
            <a:r>
              <a:rPr sz="850" spc="30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re.</a:t>
            </a:r>
            <a:r>
              <a:rPr sz="850" spc="-10" dirty="0">
                <a:solidFill>
                  <a:srgbClr val="0284C7"/>
                </a:solidFill>
                <a:latin typeface="Courier New"/>
                <a:cs typeface="Courier New"/>
              </a:rPr>
              <a:t>sub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</a:t>
            </a:r>
            <a:r>
              <a:rPr sz="850" spc="-10" dirty="0">
                <a:solidFill>
                  <a:srgbClr val="059668"/>
                </a:solidFill>
                <a:latin typeface="Courier New"/>
                <a:cs typeface="Courier New"/>
              </a:rPr>
              <a:t>r'[^a-</a:t>
            </a:r>
            <a:r>
              <a:rPr sz="850" dirty="0">
                <a:solidFill>
                  <a:srgbClr val="059668"/>
                </a:solidFill>
                <a:latin typeface="Courier New"/>
                <a:cs typeface="Courier New"/>
              </a:rPr>
              <a:t>zA-Z\s]'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,</a:t>
            </a:r>
            <a:r>
              <a:rPr sz="850" spc="30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059668"/>
                </a:solidFill>
                <a:latin typeface="Courier New"/>
                <a:cs typeface="Courier New"/>
              </a:rPr>
              <a:t>''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,</a:t>
            </a:r>
            <a:r>
              <a:rPr sz="850" spc="30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text).</a:t>
            </a:r>
            <a:r>
              <a:rPr sz="850" spc="-10" dirty="0">
                <a:solidFill>
                  <a:srgbClr val="0284C7"/>
                </a:solidFill>
                <a:latin typeface="Courier New"/>
                <a:cs typeface="Courier New"/>
              </a:rPr>
              <a:t>lower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()</a:t>
            </a:r>
            <a:endParaRPr sz="850">
              <a:latin typeface="Courier New"/>
              <a:cs typeface="Courier New"/>
            </a:endParaRPr>
          </a:p>
          <a:p>
            <a:pPr marL="340360" marR="5080">
              <a:lnSpc>
                <a:spcPct val="71900"/>
              </a:lnSpc>
              <a:spcBef>
                <a:spcPts val="140"/>
              </a:spcBef>
            </a:pP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tokens =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[w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for</a:t>
            </a:r>
            <a:r>
              <a:rPr sz="850" b="1" spc="5" dirty="0">
                <a:solidFill>
                  <a:srgbClr val="D946EE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w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in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text.</a:t>
            </a:r>
            <a:r>
              <a:rPr sz="850" dirty="0">
                <a:solidFill>
                  <a:srgbClr val="0284C7"/>
                </a:solidFill>
                <a:latin typeface="Courier New"/>
                <a:cs typeface="Courier New"/>
              </a:rPr>
              <a:t>split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()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if</a:t>
            </a:r>
            <a:r>
              <a:rPr sz="850" b="1" spc="5" dirty="0">
                <a:solidFill>
                  <a:srgbClr val="D946EE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w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not</a:t>
            </a:r>
            <a:r>
              <a:rPr sz="850" b="1" spc="5" dirty="0">
                <a:solidFill>
                  <a:srgbClr val="D946EE"/>
                </a:solidFill>
                <a:latin typeface="Courier New"/>
                <a:cs typeface="Courier New"/>
              </a:rPr>
              <a:t>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in 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stop_words] </a:t>
            </a: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return </a:t>
            </a:r>
            <a:r>
              <a:rPr sz="850" dirty="0">
                <a:solidFill>
                  <a:srgbClr val="059668"/>
                </a:solidFill>
                <a:latin typeface="Courier New"/>
                <a:cs typeface="Courier New"/>
              </a:rPr>
              <a:t>"</a:t>
            </a:r>
            <a:r>
              <a:rPr sz="850" spc="5" dirty="0">
                <a:solidFill>
                  <a:srgbClr val="059668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059668"/>
                </a:solidFill>
                <a:latin typeface="Courier New"/>
                <a:cs typeface="Courier New"/>
              </a:rPr>
              <a:t>"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.</a:t>
            </a:r>
            <a:r>
              <a:rPr sz="850" spc="-10" dirty="0">
                <a:solidFill>
                  <a:srgbClr val="0284C7"/>
                </a:solidFill>
                <a:latin typeface="Courier New"/>
                <a:cs typeface="Courier New"/>
              </a:rPr>
              <a:t>join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(tokens)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875"/>
              </a:lnSpc>
            </a:pPr>
            <a:r>
              <a:rPr sz="850" b="1" dirty="0">
                <a:solidFill>
                  <a:srgbClr val="D946EE"/>
                </a:solidFill>
                <a:latin typeface="Courier New"/>
                <a:cs typeface="Courier New"/>
              </a:rPr>
              <a:t>def</a:t>
            </a:r>
            <a:r>
              <a:rPr sz="850" b="1" spc="5" dirty="0">
                <a:solidFill>
                  <a:srgbClr val="D946EE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0284C7"/>
                </a:solidFill>
                <a:latin typeface="Courier New"/>
                <a:cs typeface="Courier New"/>
              </a:rPr>
              <a:t>compute_polarity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(cleaned_text):</a:t>
            </a:r>
            <a:endParaRPr sz="850">
              <a:latin typeface="Courier New"/>
              <a:cs typeface="Courier New"/>
            </a:endParaRPr>
          </a:p>
          <a:p>
            <a:pPr marL="340995">
              <a:lnSpc>
                <a:spcPts val="875"/>
              </a:lnSpc>
            </a:pP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score</a:t>
            </a:r>
            <a:r>
              <a:rPr sz="850" spc="5" dirty="0">
                <a:solidFill>
                  <a:srgbClr val="1E293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1E293B"/>
                </a:solidFill>
                <a:latin typeface="Courier New"/>
                <a:cs typeface="Courier New"/>
              </a:rPr>
              <a:t>= </a:t>
            </a:r>
            <a:r>
              <a:rPr sz="850" b="1" spc="-10" dirty="0">
                <a:solidFill>
                  <a:srgbClr val="7B39ED"/>
                </a:solidFill>
                <a:latin typeface="Courier New"/>
                <a:cs typeface="Courier New"/>
              </a:rPr>
              <a:t>TextBlob</a:t>
            </a:r>
            <a:r>
              <a:rPr sz="850" spc="-10" dirty="0">
                <a:solidFill>
                  <a:srgbClr val="1E293B"/>
                </a:solidFill>
                <a:latin typeface="Courier New"/>
                <a:cs typeface="Courier New"/>
              </a:rPr>
              <a:t>(cleaned_text).sentiment.polarity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900" y="2369046"/>
            <a:ext cx="4724400" cy="2439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-75" dirty="0">
                <a:solidFill>
                  <a:srgbClr val="0F2E5A"/>
                </a:solidFill>
                <a:latin typeface="Tahoma"/>
                <a:cs typeface="Tahoma"/>
              </a:rPr>
              <a:t>NLP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Preprocessing</a:t>
            </a:r>
            <a:r>
              <a:rPr sz="1150" b="1" spc="-1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Workflow</a:t>
            </a:r>
            <a:endParaRPr sz="115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sz="1200" b="1" dirty="0">
                <a:solidFill>
                  <a:srgbClr val="0F2E5A"/>
                </a:solidFill>
                <a:latin typeface="Courier New"/>
                <a:cs typeface="Courier New"/>
              </a:rPr>
              <a:t>Regex</a:t>
            </a:r>
            <a:r>
              <a:rPr sz="1200" b="1" spc="-45" dirty="0">
                <a:solidFill>
                  <a:srgbClr val="0F2E5A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F2E5A"/>
                </a:solidFill>
                <a:latin typeface="Courier New"/>
                <a:cs typeface="Courier New"/>
              </a:rPr>
              <a:t>Noise</a:t>
            </a:r>
            <a:r>
              <a:rPr sz="1200" b="1" spc="-40" dirty="0">
                <a:solidFill>
                  <a:srgbClr val="0F2E5A"/>
                </a:solidFill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0F2E5A"/>
                </a:solidFill>
                <a:latin typeface="Courier New"/>
                <a:cs typeface="Courier New"/>
              </a:rPr>
              <a:t>Reduction: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Strip</a:t>
            </a:r>
            <a:r>
              <a:rPr sz="90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475568"/>
                </a:solidFill>
                <a:latin typeface="Verdana"/>
                <a:cs typeface="Verdana"/>
              </a:rPr>
              <a:t>URLs</a:t>
            </a:r>
            <a:r>
              <a:rPr sz="90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50" dirty="0">
                <a:solidFill>
                  <a:srgbClr val="475568"/>
                </a:solidFill>
                <a:latin typeface="Verdana"/>
                <a:cs typeface="Verdana"/>
              </a:rPr>
              <a:t>(r'https?://\S+'),</a:t>
            </a:r>
            <a:r>
              <a:rPr sz="90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475568"/>
                </a:solidFill>
                <a:latin typeface="Verdana"/>
                <a:cs typeface="Verdana"/>
              </a:rPr>
              <a:t>user</a:t>
            </a:r>
            <a:r>
              <a:rPr sz="90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handles</a:t>
            </a:r>
            <a:r>
              <a:rPr sz="90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75" dirty="0">
                <a:solidFill>
                  <a:srgbClr val="475568"/>
                </a:solidFill>
                <a:latin typeface="Verdana"/>
                <a:cs typeface="Verdana"/>
              </a:rPr>
              <a:t>(r'@\w+'),</a:t>
            </a:r>
            <a:r>
              <a:rPr sz="90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475568"/>
                </a:solidFill>
                <a:latin typeface="Verdana"/>
                <a:cs typeface="Verdana"/>
              </a:rPr>
              <a:t>hashtags,</a:t>
            </a:r>
            <a:r>
              <a:rPr sz="90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0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special</a:t>
            </a:r>
            <a:r>
              <a:rPr sz="90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non-</a:t>
            </a: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ASCII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characters.</a:t>
            </a:r>
            <a:endParaRPr sz="900">
              <a:latin typeface="Verdana"/>
              <a:cs typeface="Verdana"/>
            </a:endParaRPr>
          </a:p>
          <a:p>
            <a:pPr marL="287020" indent="-274320">
              <a:lnSpc>
                <a:spcPct val="100000"/>
              </a:lnSpc>
              <a:spcBef>
                <a:spcPts val="710"/>
              </a:spcBef>
              <a:buAutoNum type="arabicPeriod" startAt="2"/>
              <a:tabLst>
                <a:tab pos="287020" algn="l"/>
              </a:tabLst>
            </a:pPr>
            <a:r>
              <a:rPr sz="1200" b="1" dirty="0">
                <a:solidFill>
                  <a:srgbClr val="0F2E5A"/>
                </a:solidFill>
                <a:latin typeface="Courier New"/>
                <a:cs typeface="Courier New"/>
              </a:rPr>
              <a:t>Tokenization</a:t>
            </a:r>
            <a:r>
              <a:rPr sz="1200" b="1" spc="-55" dirty="0">
                <a:solidFill>
                  <a:srgbClr val="0F2E5A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F2E5A"/>
                </a:solidFill>
                <a:latin typeface="Courier New"/>
                <a:cs typeface="Courier New"/>
              </a:rPr>
              <a:t>&amp;</a:t>
            </a:r>
            <a:r>
              <a:rPr sz="1200" b="1" spc="-50" dirty="0">
                <a:solidFill>
                  <a:srgbClr val="0F2E5A"/>
                </a:solidFill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0F2E5A"/>
                </a:solidFill>
                <a:latin typeface="Courier New"/>
                <a:cs typeface="Courier New"/>
              </a:rPr>
              <a:t>Lowercasing: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Cast</a:t>
            </a:r>
            <a:r>
              <a:rPr sz="90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475568"/>
                </a:solidFill>
                <a:latin typeface="Verdana"/>
                <a:cs typeface="Verdana"/>
              </a:rPr>
              <a:t>text</a:t>
            </a:r>
            <a:r>
              <a:rPr sz="90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to</a:t>
            </a:r>
            <a:r>
              <a:rPr sz="900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lowercase</a:t>
            </a:r>
            <a:r>
              <a:rPr sz="90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00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segment</a:t>
            </a:r>
            <a:r>
              <a:rPr sz="90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475568"/>
                </a:solidFill>
                <a:latin typeface="Verdana"/>
                <a:cs typeface="Verdana"/>
              </a:rPr>
              <a:t>raw</a:t>
            </a:r>
            <a:r>
              <a:rPr sz="90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475568"/>
                </a:solidFill>
                <a:latin typeface="Verdana"/>
                <a:cs typeface="Verdana"/>
              </a:rPr>
              <a:t>string</a:t>
            </a:r>
            <a:r>
              <a:rPr sz="900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sequences</a:t>
            </a:r>
            <a:r>
              <a:rPr sz="90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into</a:t>
            </a:r>
            <a:r>
              <a:rPr sz="900" spc="-9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discrete</a:t>
            </a:r>
            <a:r>
              <a:rPr sz="90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token</a:t>
            </a:r>
            <a:r>
              <a:rPr sz="900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arrays.</a:t>
            </a:r>
            <a:endParaRPr sz="900">
              <a:latin typeface="Verdana"/>
              <a:cs typeface="Verdana"/>
            </a:endParaRPr>
          </a:p>
          <a:p>
            <a:pPr marL="287020" indent="-274320">
              <a:lnSpc>
                <a:spcPct val="100000"/>
              </a:lnSpc>
              <a:spcBef>
                <a:spcPts val="905"/>
              </a:spcBef>
              <a:buAutoNum type="arabicPeriod" startAt="3"/>
              <a:tabLst>
                <a:tab pos="287020" algn="l"/>
              </a:tabLst>
            </a:pPr>
            <a:r>
              <a:rPr sz="1200" b="1" dirty="0">
                <a:solidFill>
                  <a:srgbClr val="0F2E5A"/>
                </a:solidFill>
                <a:latin typeface="Courier New"/>
                <a:cs typeface="Courier New"/>
              </a:rPr>
              <a:t>NLTK</a:t>
            </a:r>
            <a:r>
              <a:rPr sz="1200" b="1" spc="-50" dirty="0">
                <a:solidFill>
                  <a:srgbClr val="0F2E5A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F2E5A"/>
                </a:solidFill>
                <a:latin typeface="Courier New"/>
                <a:cs typeface="Courier New"/>
              </a:rPr>
              <a:t>Stopword</a:t>
            </a:r>
            <a:r>
              <a:rPr sz="1200" b="1" spc="-50" dirty="0">
                <a:solidFill>
                  <a:srgbClr val="0F2E5A"/>
                </a:solidFill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0F2E5A"/>
                </a:solidFill>
                <a:latin typeface="Courier New"/>
                <a:cs typeface="Courier New"/>
              </a:rPr>
              <a:t>Filtering: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900" spc="-20" dirty="0">
                <a:solidFill>
                  <a:srgbClr val="475568"/>
                </a:solidFill>
                <a:latin typeface="Verdana"/>
                <a:cs typeface="Verdana"/>
              </a:rPr>
              <a:t>Filter</a:t>
            </a:r>
            <a:r>
              <a:rPr sz="900" spc="-7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syntactic</a:t>
            </a:r>
            <a:r>
              <a:rPr sz="900" spc="-6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non-sentiment</a:t>
            </a:r>
            <a:r>
              <a:rPr sz="900" spc="-6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words</a:t>
            </a:r>
            <a:r>
              <a:rPr sz="900" spc="-7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(</a:t>
            </a:r>
            <a:r>
              <a:rPr sz="900" i="1" dirty="0">
                <a:solidFill>
                  <a:srgbClr val="475568"/>
                </a:solidFill>
                <a:latin typeface="Arial"/>
                <a:cs typeface="Arial"/>
              </a:rPr>
              <a:t>"the", "is", "at", "which"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)</a:t>
            </a:r>
            <a:r>
              <a:rPr sz="900" spc="-6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475568"/>
                </a:solidFill>
                <a:latin typeface="Verdana"/>
                <a:cs typeface="Verdana"/>
              </a:rPr>
              <a:t>using</a:t>
            </a:r>
            <a:r>
              <a:rPr sz="900" spc="-6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475568"/>
                </a:solidFill>
                <a:latin typeface="Verdana"/>
                <a:cs typeface="Verdana"/>
              </a:rPr>
              <a:t>English</a:t>
            </a:r>
            <a:r>
              <a:rPr sz="900" spc="-7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lexicons.</a:t>
            </a:r>
            <a:endParaRPr sz="900">
              <a:latin typeface="Verdana"/>
              <a:cs typeface="Verdana"/>
            </a:endParaRPr>
          </a:p>
          <a:p>
            <a:pPr marL="287020" indent="-274320">
              <a:lnSpc>
                <a:spcPct val="100000"/>
              </a:lnSpc>
              <a:spcBef>
                <a:spcPts val="905"/>
              </a:spcBef>
              <a:buAutoNum type="arabicPeriod" startAt="4"/>
              <a:tabLst>
                <a:tab pos="287020" algn="l"/>
              </a:tabLst>
            </a:pPr>
            <a:r>
              <a:rPr sz="1200" b="1" spc="-10" dirty="0">
                <a:solidFill>
                  <a:srgbClr val="0F2E5A"/>
                </a:solidFill>
                <a:latin typeface="Courier New"/>
                <a:cs typeface="Courier New"/>
              </a:rPr>
              <a:t>Lemmatization: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Reduce</a:t>
            </a:r>
            <a:r>
              <a:rPr sz="90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inflectional</a:t>
            </a:r>
            <a:r>
              <a:rPr sz="90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suffixes</a:t>
            </a:r>
            <a:r>
              <a:rPr sz="90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to</a:t>
            </a:r>
            <a:r>
              <a:rPr sz="90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dictionary</a:t>
            </a:r>
            <a:r>
              <a:rPr sz="90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475568"/>
                </a:solidFill>
                <a:latin typeface="Verdana"/>
                <a:cs typeface="Verdana"/>
              </a:rPr>
              <a:t>root</a:t>
            </a:r>
            <a:r>
              <a:rPr sz="90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forms</a:t>
            </a:r>
            <a:r>
              <a:rPr sz="90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spc="-40" dirty="0">
                <a:solidFill>
                  <a:srgbClr val="475568"/>
                </a:solidFill>
                <a:latin typeface="Verdana"/>
                <a:cs typeface="Verdana"/>
              </a:rPr>
              <a:t>(e.g.</a:t>
            </a:r>
            <a:r>
              <a:rPr sz="900" spc="-15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00" i="1" spc="65" dirty="0">
                <a:solidFill>
                  <a:srgbClr val="475568"/>
                </a:solidFill>
                <a:latin typeface="Arial"/>
                <a:cs typeface="Arial"/>
              </a:rPr>
              <a:t>"upgraded",</a:t>
            </a:r>
            <a:r>
              <a:rPr sz="900" i="1" spc="-60" dirty="0">
                <a:solidFill>
                  <a:srgbClr val="475568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475568"/>
                </a:solidFill>
                <a:latin typeface="Arial"/>
                <a:cs typeface="Arial"/>
              </a:rPr>
              <a:t>"upgrades"</a:t>
            </a:r>
            <a:r>
              <a:rPr sz="900" i="1" spc="-60" dirty="0">
                <a:solidFill>
                  <a:srgbClr val="475568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475568"/>
                </a:solidFill>
                <a:latin typeface="Arial"/>
                <a:cs typeface="Arial"/>
              </a:rPr>
              <a:t>→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900" i="1" spc="-10" dirty="0">
                <a:solidFill>
                  <a:srgbClr val="475568"/>
                </a:solidFill>
                <a:latin typeface="Arial"/>
                <a:cs typeface="Arial"/>
              </a:rPr>
              <a:t>"upgrade"</a:t>
            </a:r>
            <a:r>
              <a:rPr sz="900" spc="-10" dirty="0">
                <a:solidFill>
                  <a:srgbClr val="475568"/>
                </a:solidFill>
                <a:latin typeface="Verdana"/>
                <a:cs typeface="Verdana"/>
              </a:rPr>
              <a:t>).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rgbClr val="FFFFFF"/>
                </a:solidFill>
              </a:rPr>
              <a:t>Task</a:t>
            </a:r>
            <a:r>
              <a:rPr spc="-85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02</a:t>
            </a:r>
            <a:r>
              <a:rPr spc="-80" dirty="0">
                <a:solidFill>
                  <a:srgbClr val="FFFFFF"/>
                </a:solidFill>
              </a:rPr>
              <a:t> </a:t>
            </a:r>
            <a:r>
              <a:rPr spc="-30" dirty="0"/>
              <a:t>Social</a:t>
            </a:r>
            <a:r>
              <a:rPr spc="-80" dirty="0"/>
              <a:t> </a:t>
            </a:r>
            <a:r>
              <a:rPr spc="-45" dirty="0"/>
              <a:t>Media</a:t>
            </a:r>
            <a:r>
              <a:rPr spc="-140" dirty="0"/>
              <a:t> </a:t>
            </a:r>
            <a:r>
              <a:rPr spc="-90" dirty="0"/>
              <a:t>Text</a:t>
            </a:r>
            <a:r>
              <a:rPr spc="-80" dirty="0"/>
              <a:t> Normalization </a:t>
            </a:r>
            <a:r>
              <a:rPr spc="-25" dirty="0"/>
              <a:t>Pipeline</a:t>
            </a: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53575" y="6231900"/>
            <a:ext cx="2605648" cy="62352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8800" y="257175"/>
            <a:ext cx="2314574" cy="21907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28625" y="2473374"/>
            <a:ext cx="5581650" cy="2488565"/>
            <a:chOff x="428625" y="2473374"/>
            <a:chExt cx="5581650" cy="24885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25" y="2473374"/>
              <a:ext cx="5581649" cy="24884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3485405"/>
              <a:ext cx="5219699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3894980"/>
              <a:ext cx="5219699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4304555"/>
              <a:ext cx="5219699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" y="3485405"/>
              <a:ext cx="2515789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600" y="3894980"/>
              <a:ext cx="1492745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600" y="4304555"/>
              <a:ext cx="1210864" cy="15239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8625" y="6429375"/>
            <a:ext cx="11334749" cy="2285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47376" y="274764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35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925" y="6498021"/>
            <a:ext cx="229044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Slide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8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 |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64738B"/>
                </a:solidFill>
                <a:latin typeface="Verdana"/>
                <a:cs typeface="Verdana"/>
              </a:rPr>
              <a:t>Empirical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Findings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90" dirty="0">
                <a:solidFill>
                  <a:srgbClr val="64738B"/>
                </a:solidFill>
                <a:latin typeface="Verdana"/>
                <a:cs typeface="Verdana"/>
              </a:rPr>
              <a:t>h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5" dirty="0">
                <a:solidFill>
                  <a:srgbClr val="64738B"/>
                </a:solidFill>
                <a:latin typeface="Verdana"/>
                <a:cs typeface="Verdana"/>
              </a:rPr>
              <a:t>Visual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Analytics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9525" y="6498021"/>
            <a:ext cx="15830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85" dirty="0">
                <a:solidFill>
                  <a:srgbClr val="64738B"/>
                </a:solidFill>
                <a:latin typeface="Verdana"/>
                <a:cs typeface="Verdana"/>
              </a:rPr>
              <a:t>IILM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64738B"/>
                </a:solidFill>
                <a:latin typeface="Verdana"/>
                <a:cs typeface="Verdana"/>
              </a:rPr>
              <a:t>University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•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Greater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Noida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36916" y="2451565"/>
            <a:ext cx="5671268" cy="2042243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181678" y="2473327"/>
            <a:ext cx="5582285" cy="1953260"/>
          </a:xfrm>
          <a:custGeom>
            <a:avLst/>
            <a:gdLst/>
            <a:ahLst/>
            <a:cxnLst/>
            <a:rect l="l" t="t" r="r" b="b"/>
            <a:pathLst>
              <a:path w="5582284" h="1953260">
                <a:moveTo>
                  <a:pt x="46" y="46"/>
                </a:moveTo>
                <a:lnTo>
                  <a:pt x="5581696" y="46"/>
                </a:lnTo>
                <a:lnTo>
                  <a:pt x="5581696" y="1952671"/>
                </a:lnTo>
                <a:lnTo>
                  <a:pt x="46" y="1952671"/>
                </a:lnTo>
                <a:lnTo>
                  <a:pt x="46" y="46"/>
                </a:lnTo>
                <a:close/>
              </a:path>
            </a:pathLst>
          </a:custGeom>
          <a:ln w="9524">
            <a:solidFill>
              <a:srgbClr val="4A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605984" y="2990192"/>
            <a:ext cx="46037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850" spc="-10" dirty="0">
                <a:solidFill>
                  <a:srgbClr val="334155"/>
                </a:solidFill>
                <a:latin typeface="Courier New"/>
                <a:cs typeface="Courier New"/>
              </a:rPr>
              <a:t>ositive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05984" y="3380718"/>
            <a:ext cx="39433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850" spc="-10" dirty="0">
                <a:solidFill>
                  <a:srgbClr val="334155"/>
                </a:solidFill>
                <a:latin typeface="Courier New"/>
                <a:cs typeface="Courier New"/>
              </a:rPr>
              <a:t>eutral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05984" y="3771243"/>
            <a:ext cx="46037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850" spc="-10" dirty="0">
                <a:solidFill>
                  <a:srgbClr val="334155"/>
                </a:solidFill>
                <a:latin typeface="Courier New"/>
                <a:cs typeface="Courier New"/>
              </a:rPr>
              <a:t>egative</a:t>
            </a:r>
            <a:endParaRPr sz="850">
              <a:latin typeface="Courier New"/>
              <a:cs typeface="Courier New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181725" y="2473374"/>
          <a:ext cx="5582920" cy="1949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Raw</a:t>
                      </a:r>
                      <a:r>
                        <a:rPr sz="800" b="1" spc="90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b="1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Social</a:t>
                      </a:r>
                      <a:r>
                        <a:rPr sz="800" b="1" spc="90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b="1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r>
                        <a:rPr sz="800" b="1" spc="95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Post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1397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39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spc="-10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Polarity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1397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479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Predicted</a:t>
                      </a:r>
                      <a:r>
                        <a:rPr sz="800" b="1" spc="180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0F2E5A"/>
                          </a:solidFill>
                          <a:latin typeface="Courier New"/>
                          <a:cs typeface="Courier New"/>
                        </a:rPr>
                        <a:t>Class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13970" marB="0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"love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seamless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app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update,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great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spc="-1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job!"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73990">
                        <a:lnSpc>
                          <a:spcPct val="100000"/>
                        </a:lnSpc>
                      </a:pPr>
                      <a:r>
                        <a:rPr sz="850" b="1" spc="-10" dirty="0">
                          <a:solidFill>
                            <a:srgbClr val="059668"/>
                          </a:solidFill>
                          <a:latin typeface="Courier New"/>
                          <a:cs typeface="Courier New"/>
                        </a:rPr>
                        <a:t>+0.C5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7955">
                        <a:lnSpc>
                          <a:spcPct val="100000"/>
                        </a:lnSpc>
                      </a:pPr>
                      <a:r>
                        <a:rPr sz="850" spc="-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"account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statement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arrived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expected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spc="-1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today"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73990">
                        <a:lnSpc>
                          <a:spcPct val="100000"/>
                        </a:lnSpc>
                      </a:pPr>
                      <a:r>
                        <a:rPr sz="850" b="1" spc="-20" dirty="0">
                          <a:solidFill>
                            <a:srgbClr val="64738B"/>
                          </a:solidFill>
                          <a:latin typeface="Courier New"/>
                          <a:cs typeface="Courier New"/>
                        </a:rPr>
                        <a:t>0.00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7955">
                        <a:lnSpc>
                          <a:spcPct val="100000"/>
                        </a:lnSpc>
                      </a:pPr>
                      <a:r>
                        <a:rPr sz="850" spc="-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57150" marR="429259">
                        <a:lnSpc>
                          <a:spcPct val="101400"/>
                        </a:lnSpc>
                        <a:spcBef>
                          <a:spcPts val="465"/>
                        </a:spcBef>
                      </a:pP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"transaction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failed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twice,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terrible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spc="-1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customer support"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59055" marB="0"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73990">
                        <a:lnSpc>
                          <a:spcPct val="100000"/>
                        </a:lnSpc>
                      </a:pPr>
                      <a:r>
                        <a:rPr sz="850" b="1" dirty="0">
                          <a:solidFill>
                            <a:srgbClr val="DC2626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DC2626"/>
                          </a:solidFill>
                          <a:latin typeface="Courier New"/>
                          <a:cs typeface="Courier New"/>
                        </a:rPr>
                        <a:t>0.58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7955">
                        <a:lnSpc>
                          <a:spcPct val="100000"/>
                        </a:lnSpc>
                      </a:pPr>
                      <a:r>
                        <a:rPr sz="850" spc="-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"resolution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was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fast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but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server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latency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850" spc="5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50" spc="-1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high"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73990">
                        <a:lnSpc>
                          <a:spcPct val="100000"/>
                        </a:lnSpc>
                      </a:pPr>
                      <a:r>
                        <a:rPr sz="850" b="1" spc="-10" dirty="0">
                          <a:solidFill>
                            <a:srgbClr val="059668"/>
                          </a:solidFill>
                          <a:latin typeface="Courier New"/>
                          <a:cs typeface="Courier New"/>
                        </a:rPr>
                        <a:t>+0.12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7955">
                        <a:lnSpc>
                          <a:spcPct val="100000"/>
                        </a:lnSpc>
                      </a:pPr>
                      <a:r>
                        <a:rPr sz="850" spc="-50" dirty="0">
                          <a:solidFill>
                            <a:srgbClr val="334155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10605984" y="4161768"/>
            <a:ext cx="46037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850" spc="-10" dirty="0">
                <a:solidFill>
                  <a:srgbClr val="334155"/>
                </a:solidFill>
                <a:latin typeface="Courier New"/>
                <a:cs typeface="Courier New"/>
              </a:rPr>
              <a:t>ositive</a:t>
            </a:r>
            <a:endParaRPr sz="850">
              <a:latin typeface="Courier New"/>
              <a:cs typeface="Courier New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9600" y="4685555"/>
            <a:ext cx="123824" cy="9128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77875" y="4639901"/>
            <a:ext cx="68389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spc="-65" dirty="0">
                <a:solidFill>
                  <a:srgbClr val="475568"/>
                </a:solidFill>
                <a:latin typeface="Verdana"/>
                <a:cs typeface="Verdana"/>
              </a:rPr>
              <a:t>Key</a:t>
            </a:r>
            <a:r>
              <a:rPr sz="850" b="1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850" b="1" spc="-55" dirty="0">
                <a:solidFill>
                  <a:srgbClr val="475568"/>
                </a:solidFill>
                <a:latin typeface="Verdana"/>
                <a:cs typeface="Verdana"/>
              </a:rPr>
              <a:t>Finding: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700"/>
              </a:lnSpc>
              <a:spcBef>
                <a:spcPts val="100"/>
              </a:spcBef>
            </a:pP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Sentiment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Class</a:t>
            </a: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Distribution </a:t>
            </a:r>
            <a:r>
              <a:rPr sz="1150" b="1" spc="-100" dirty="0">
                <a:solidFill>
                  <a:srgbClr val="0F2E5A"/>
                </a:solidFill>
                <a:latin typeface="Tahoma"/>
                <a:cs typeface="Tahoma"/>
              </a:rPr>
              <a:t>(N</a:t>
            </a: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25" dirty="0">
                <a:solidFill>
                  <a:srgbClr val="0F2E5A"/>
                </a:solidFill>
                <a:latin typeface="Tahoma"/>
                <a:cs typeface="Tahoma"/>
              </a:rPr>
              <a:t>=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10,000)</a:t>
            </a:r>
            <a:r>
              <a:rPr sz="1150" b="1" spc="500" dirty="0">
                <a:solidFill>
                  <a:srgbClr val="0F2E5A"/>
                </a:solidFill>
                <a:latin typeface="Tahoma"/>
                <a:cs typeface="Tahoma"/>
              </a:rPr>
              <a:t>              </a:t>
            </a:r>
            <a:r>
              <a:rPr dirty="0"/>
              <a:t>Automated</a:t>
            </a:r>
            <a:r>
              <a:rPr spc="-100" dirty="0"/>
              <a:t> </a:t>
            </a:r>
            <a:r>
              <a:rPr spc="-10" dirty="0"/>
              <a:t>sentiment</a:t>
            </a:r>
            <a:r>
              <a:rPr spc="-100" dirty="0"/>
              <a:t> </a:t>
            </a:r>
            <a:r>
              <a:rPr spc="-10" dirty="0"/>
              <a:t>distribution</a:t>
            </a:r>
            <a:r>
              <a:rPr spc="-95" dirty="0"/>
              <a:t> </a:t>
            </a:r>
            <a:r>
              <a:rPr dirty="0"/>
              <a:t>computed</a:t>
            </a:r>
            <a:r>
              <a:rPr spc="-100" dirty="0"/>
              <a:t> </a:t>
            </a:r>
            <a:r>
              <a:rPr dirty="0"/>
              <a:t>across</a:t>
            </a:r>
            <a:r>
              <a:rPr spc="-100" dirty="0"/>
              <a:t> </a:t>
            </a:r>
            <a:r>
              <a:rPr dirty="0"/>
              <a:t>public</a:t>
            </a:r>
            <a:r>
              <a:rPr spc="-95" dirty="0"/>
              <a:t> </a:t>
            </a:r>
            <a:r>
              <a:rPr dirty="0"/>
              <a:t>brand</a:t>
            </a:r>
            <a:r>
              <a:rPr spc="-100" dirty="0"/>
              <a:t> </a:t>
            </a:r>
            <a:r>
              <a:rPr spc="-10" dirty="0"/>
              <a:t>mentions</a:t>
            </a:r>
            <a:r>
              <a:rPr spc="-10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customer reviews.</a:t>
            </a:r>
            <a:endParaRPr sz="1150">
              <a:latin typeface="Tahoma"/>
              <a:cs typeface="Tahoma"/>
            </a:endParaRPr>
          </a:p>
          <a:p>
            <a:pPr marL="792480">
              <a:lnSpc>
                <a:spcPct val="100000"/>
              </a:lnSpc>
              <a:spcBef>
                <a:spcPts val="735"/>
              </a:spcBef>
            </a:pPr>
            <a:r>
              <a:rPr sz="850" b="1" dirty="0">
                <a:solidFill>
                  <a:srgbClr val="059668"/>
                </a:solidFill>
                <a:latin typeface="Courier New"/>
                <a:cs typeface="Courier New"/>
              </a:rPr>
              <a:t>POSITIVE </a:t>
            </a:r>
            <a:r>
              <a:rPr sz="850" b="1" dirty="0">
                <a:solidFill>
                  <a:srgbClr val="0F2E5A"/>
                </a:solidFill>
                <a:latin typeface="Courier New"/>
                <a:cs typeface="Courier New"/>
              </a:rPr>
              <a:t>48.2%</a:t>
            </a:r>
            <a:r>
              <a:rPr sz="850" b="1" spc="5" dirty="0">
                <a:solidFill>
                  <a:srgbClr val="0F2E5A"/>
                </a:solidFill>
                <a:latin typeface="Courier New"/>
                <a:cs typeface="Courier New"/>
              </a:rPr>
              <a:t> </a:t>
            </a:r>
            <a:r>
              <a:rPr sz="850" b="1" spc="-10" dirty="0">
                <a:solidFill>
                  <a:srgbClr val="0F2E5A"/>
                </a:solidFill>
                <a:latin typeface="Courier New"/>
                <a:cs typeface="Courier New"/>
              </a:rPr>
              <a:t>(4,820)</a:t>
            </a:r>
            <a:endParaRPr sz="850">
              <a:latin typeface="Courier New"/>
              <a:cs typeface="Courier New"/>
            </a:endParaRPr>
          </a:p>
          <a:p>
            <a:pPr marL="792480" marR="2775585" indent="-66675">
              <a:lnSpc>
                <a:spcPct val="316200"/>
              </a:lnSpc>
            </a:pPr>
            <a:r>
              <a:rPr sz="850" b="1" dirty="0">
                <a:latin typeface="Courier New"/>
                <a:cs typeface="Courier New"/>
              </a:rPr>
              <a:t>NEUTRAL </a:t>
            </a:r>
            <a:r>
              <a:rPr sz="850" b="1" dirty="0">
                <a:solidFill>
                  <a:srgbClr val="0F2E5A"/>
                </a:solidFill>
                <a:latin typeface="Courier New"/>
                <a:cs typeface="Courier New"/>
              </a:rPr>
              <a:t>28.C%</a:t>
            </a:r>
            <a:r>
              <a:rPr sz="850" b="1" spc="5" dirty="0">
                <a:solidFill>
                  <a:srgbClr val="0F2E5A"/>
                </a:solidFill>
                <a:latin typeface="Courier New"/>
                <a:cs typeface="Courier New"/>
              </a:rPr>
              <a:t> </a:t>
            </a:r>
            <a:r>
              <a:rPr sz="850" b="1" spc="-10" dirty="0">
                <a:solidFill>
                  <a:srgbClr val="0F2E5A"/>
                </a:solidFill>
                <a:latin typeface="Courier New"/>
                <a:cs typeface="Courier New"/>
              </a:rPr>
              <a:t>(2,8C0) </a:t>
            </a:r>
            <a:r>
              <a:rPr sz="850" b="1" dirty="0">
                <a:solidFill>
                  <a:srgbClr val="DC2626"/>
                </a:solidFill>
                <a:latin typeface="Courier New"/>
                <a:cs typeface="Courier New"/>
              </a:rPr>
              <a:t>NEGATIVE </a:t>
            </a:r>
            <a:r>
              <a:rPr sz="850" b="1" dirty="0">
                <a:solidFill>
                  <a:srgbClr val="0F2E5A"/>
                </a:solidFill>
                <a:latin typeface="Courier New"/>
                <a:cs typeface="Courier New"/>
              </a:rPr>
              <a:t>23.2%</a:t>
            </a:r>
            <a:r>
              <a:rPr sz="850" b="1" spc="5" dirty="0">
                <a:solidFill>
                  <a:srgbClr val="0F2E5A"/>
                </a:solidFill>
                <a:latin typeface="Courier New"/>
                <a:cs typeface="Courier New"/>
              </a:rPr>
              <a:t> </a:t>
            </a:r>
            <a:r>
              <a:rPr sz="850" b="1" spc="-10" dirty="0">
                <a:solidFill>
                  <a:srgbClr val="0F2E5A"/>
                </a:solidFill>
                <a:latin typeface="Courier New"/>
                <a:cs typeface="Courier New"/>
              </a:rPr>
              <a:t>(2,320)</a:t>
            </a:r>
            <a:endParaRPr sz="850">
              <a:latin typeface="Courier New"/>
              <a:cs typeface="Courier New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9600" y="3333005"/>
            <a:ext cx="114299" cy="10111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9600" y="3742580"/>
            <a:ext cx="114299" cy="10111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9600" y="4152155"/>
            <a:ext cx="114299" cy="10111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02217" y="3025824"/>
            <a:ext cx="628649" cy="18097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602217" y="3368723"/>
            <a:ext cx="571499" cy="18097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602217" y="3764012"/>
            <a:ext cx="628649" cy="18097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602217" y="4159298"/>
            <a:ext cx="628649" cy="180974"/>
          </a:xfrm>
          <a:prstGeom prst="rect">
            <a:avLst/>
          </a:prstGeom>
        </p:spPr>
      </p:pic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rgbClr val="FFFFFF"/>
                </a:solidFill>
              </a:rPr>
              <a:t>Task</a:t>
            </a:r>
            <a:r>
              <a:rPr spc="-80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02</a:t>
            </a:r>
            <a:r>
              <a:rPr spc="-75" dirty="0">
                <a:solidFill>
                  <a:srgbClr val="FFFFFF"/>
                </a:solidFill>
              </a:rPr>
              <a:t> </a:t>
            </a:r>
            <a:r>
              <a:rPr spc="-50" dirty="0"/>
              <a:t>Sentiment</a:t>
            </a:r>
            <a:r>
              <a:rPr spc="-100" dirty="0"/>
              <a:t> </a:t>
            </a:r>
            <a:r>
              <a:rPr spc="-65" dirty="0"/>
              <a:t>Visual</a:t>
            </a:r>
            <a:r>
              <a:rPr spc="-95" dirty="0"/>
              <a:t> </a:t>
            </a:r>
            <a:r>
              <a:rPr spc="-10" dirty="0"/>
              <a:t>Analytics</a:t>
            </a:r>
            <a:r>
              <a:rPr spc="-80" dirty="0"/>
              <a:t> </a:t>
            </a:r>
            <a:r>
              <a:rPr spc="-409" dirty="0"/>
              <a:t>&amp;</a:t>
            </a:r>
            <a:r>
              <a:rPr spc="-75" dirty="0"/>
              <a:t> Empirical</a:t>
            </a:r>
            <a:r>
              <a:rPr spc="-80" dirty="0"/>
              <a:t> </a:t>
            </a:r>
            <a:r>
              <a:rPr spc="-10" dirty="0"/>
              <a:t>Results</a:t>
            </a:r>
          </a:p>
        </p:txBody>
      </p:sp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553575" y="6231900"/>
            <a:ext cx="2605648" cy="623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2225" y="257175"/>
            <a:ext cx="1581149" cy="219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" y="2574577"/>
            <a:ext cx="5581649" cy="2285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1725" y="2574577"/>
            <a:ext cx="5581649" cy="2285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8625" y="6429375"/>
            <a:ext cx="11334749" cy="228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7376" y="274764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35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925" y="6498021"/>
            <a:ext cx="1640839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Slide</a:t>
            </a:r>
            <a:r>
              <a:rPr sz="850" spc="-15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5" dirty="0">
                <a:solidFill>
                  <a:srgbClr val="64738B"/>
                </a:solidFill>
                <a:latin typeface="Verdana"/>
                <a:cs typeface="Verdana"/>
              </a:rPr>
              <a:t>9</a:t>
            </a:r>
            <a:r>
              <a:rPr sz="850" spc="-15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|</a:t>
            </a:r>
            <a:r>
              <a:rPr sz="850" spc="-14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Comparative</a:t>
            </a:r>
            <a:r>
              <a:rPr sz="850" spc="-15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Synthesis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9525" y="6498021"/>
            <a:ext cx="15830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85" dirty="0">
                <a:solidFill>
                  <a:srgbClr val="64738B"/>
                </a:solidFill>
                <a:latin typeface="Verdana"/>
                <a:cs typeface="Verdana"/>
              </a:rPr>
              <a:t>IILM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40" dirty="0">
                <a:solidFill>
                  <a:srgbClr val="64738B"/>
                </a:solidFill>
                <a:latin typeface="Verdana"/>
                <a:cs typeface="Verdana"/>
              </a:rPr>
              <a:t>University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•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0" dirty="0">
                <a:solidFill>
                  <a:srgbClr val="64738B"/>
                </a:solidFill>
                <a:latin typeface="Verdana"/>
                <a:cs typeface="Verdana"/>
              </a:rPr>
              <a:t>Greater</a:t>
            </a:r>
            <a:r>
              <a:rPr sz="850" spc="-11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Noida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9600" y="2736502"/>
            <a:ext cx="342900" cy="342900"/>
            <a:chOff x="609600" y="2736502"/>
            <a:chExt cx="342900" cy="34290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600" y="2736502"/>
              <a:ext cx="342899" cy="3428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850" y="2831752"/>
              <a:ext cx="152399" cy="1523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96900" y="3156049"/>
            <a:ext cx="2426970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Supervised</a:t>
            </a:r>
            <a:r>
              <a:rPr sz="1150" b="1" spc="-3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ML</a:t>
            </a:r>
            <a:r>
              <a:rPr sz="1150" b="1" spc="-6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dirty="0">
                <a:solidFill>
                  <a:srgbClr val="0F2E5A"/>
                </a:solidFill>
                <a:latin typeface="Tahoma"/>
                <a:cs typeface="Tahoma"/>
              </a:rPr>
              <a:t>vs</a:t>
            </a:r>
            <a:r>
              <a:rPr sz="1150" b="1" spc="-3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75" dirty="0">
                <a:solidFill>
                  <a:srgbClr val="0F2E5A"/>
                </a:solidFill>
                <a:latin typeface="Tahoma"/>
                <a:cs typeface="Tahoma"/>
              </a:rPr>
              <a:t>NLP</a:t>
            </a:r>
            <a:r>
              <a:rPr sz="1150" b="1" spc="-6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45" dirty="0">
                <a:solidFill>
                  <a:srgbClr val="0F2E5A"/>
                </a:solidFill>
                <a:latin typeface="Tahoma"/>
                <a:cs typeface="Tahoma"/>
              </a:rPr>
              <a:t>Text</a:t>
            </a:r>
            <a:r>
              <a:rPr sz="1150" b="1" spc="-3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Mining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62700" y="2736502"/>
            <a:ext cx="342900" cy="342900"/>
            <a:chOff x="6362700" y="2736502"/>
            <a:chExt cx="342900" cy="34290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62700" y="2736502"/>
              <a:ext cx="342899" cy="3428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7000" y="2831752"/>
              <a:ext cx="114299" cy="1523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50000" y="3156049"/>
            <a:ext cx="237553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Core</a:t>
            </a:r>
            <a:r>
              <a:rPr sz="1150" b="1" spc="-40" dirty="0">
                <a:solidFill>
                  <a:srgbClr val="0F2E5A"/>
                </a:solidFill>
                <a:latin typeface="Tahoma"/>
                <a:cs typeface="Tahoma"/>
              </a:rPr>
              <a:t> Data </a:t>
            </a:r>
            <a:r>
              <a:rPr sz="1150" b="1" dirty="0">
                <a:solidFill>
                  <a:srgbClr val="0F2E5A"/>
                </a:solidFill>
                <a:latin typeface="Tahoma"/>
                <a:cs typeface="Tahoma"/>
              </a:rPr>
              <a:t>Science</a:t>
            </a: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Competencies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6900" y="3339193"/>
            <a:ext cx="5166360" cy="1310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marR="5080" indent="-171450">
              <a:lnSpc>
                <a:spcPct val="147900"/>
              </a:lnSpc>
              <a:spcBef>
                <a:spcPts val="90"/>
              </a:spcBef>
              <a:buSzPct val="110526"/>
              <a:buFont typeface="MS PGothic"/>
              <a:buChar char="◗"/>
              <a:tabLst>
                <a:tab pos="184150" algn="l"/>
                <a:tab pos="186055" algn="l"/>
              </a:tabLst>
            </a:pPr>
            <a:r>
              <a:rPr sz="950" dirty="0">
                <a:solidFill>
                  <a:srgbClr val="0284C7"/>
                </a:solidFill>
                <a:latin typeface="Verdana"/>
                <a:cs typeface="Verdana"/>
              </a:rPr>
              <a:t>	</a:t>
            </a:r>
            <a:r>
              <a:rPr sz="1425" b="1" spc="-89" baseline="2923" dirty="0">
                <a:solidFill>
                  <a:srgbClr val="334155"/>
                </a:solidFill>
                <a:latin typeface="Verdana"/>
                <a:cs typeface="Verdana"/>
              </a:rPr>
              <a:t>Decision</a:t>
            </a:r>
            <a:r>
              <a:rPr sz="1425" b="1" spc="-15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="1" spc="-142" baseline="2923" dirty="0">
                <a:solidFill>
                  <a:srgbClr val="334155"/>
                </a:solidFill>
                <a:latin typeface="Verdana"/>
                <a:cs typeface="Verdana"/>
              </a:rPr>
              <a:t>Tree</a:t>
            </a:r>
            <a:r>
              <a:rPr sz="1425" b="1" spc="-150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="1" spc="-157" baseline="2923" dirty="0">
                <a:solidFill>
                  <a:srgbClr val="334155"/>
                </a:solidFill>
                <a:latin typeface="Verdana"/>
                <a:cs typeface="Verdana"/>
              </a:rPr>
              <a:t>(Tabular</a:t>
            </a:r>
            <a:r>
              <a:rPr sz="1425" b="1" spc="-150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="1" spc="-112" baseline="2923" dirty="0">
                <a:solidFill>
                  <a:srgbClr val="334155"/>
                </a:solidFill>
                <a:latin typeface="Verdana"/>
                <a:cs typeface="Verdana"/>
              </a:rPr>
              <a:t>ML):</a:t>
            </a:r>
            <a:r>
              <a:rPr sz="1425" b="1" spc="-172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aseline="2923" dirty="0">
                <a:solidFill>
                  <a:srgbClr val="334155"/>
                </a:solidFill>
                <a:latin typeface="Verdana"/>
                <a:cs typeface="Verdana"/>
              </a:rPr>
              <a:t>Operates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aseline="2923" dirty="0">
                <a:solidFill>
                  <a:srgbClr val="334155"/>
                </a:solidFill>
                <a:latin typeface="Verdana"/>
                <a:cs typeface="Verdana"/>
              </a:rPr>
              <a:t>on</a:t>
            </a:r>
            <a:r>
              <a:rPr sz="1425" spc="-172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structured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44" baseline="2923" dirty="0">
                <a:solidFill>
                  <a:srgbClr val="334155"/>
                </a:solidFill>
                <a:latin typeface="Verdana"/>
                <a:cs typeface="Verdana"/>
              </a:rPr>
              <a:t>matrices;</a:t>
            </a:r>
            <a:r>
              <a:rPr sz="1425" spc="-172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solves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binary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classification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50" dirty="0">
                <a:solidFill>
                  <a:srgbClr val="334155"/>
                </a:solidFill>
                <a:latin typeface="Verdana"/>
                <a:cs typeface="Verdana"/>
              </a:rPr>
              <a:t>via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4155"/>
                </a:solidFill>
                <a:latin typeface="Verdana"/>
                <a:cs typeface="Verdana"/>
              </a:rPr>
              <a:t>recursive</a:t>
            </a:r>
            <a:r>
              <a:rPr sz="950" spc="-12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4155"/>
                </a:solidFill>
                <a:latin typeface="Verdana"/>
                <a:cs typeface="Verdana"/>
              </a:rPr>
              <a:t>Gini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partitioning.</a:t>
            </a:r>
            <a:r>
              <a:rPr sz="950" spc="500" dirty="0">
                <a:solidFill>
                  <a:srgbClr val="334155"/>
                </a:solidFill>
                <a:latin typeface="Verdana"/>
                <a:cs typeface="Verdana"/>
              </a:rPr>
              <a:t>                  </a:t>
            </a:r>
            <a:r>
              <a:rPr sz="950" b="1" spc="-70" dirty="0">
                <a:solidFill>
                  <a:srgbClr val="334155"/>
                </a:solidFill>
                <a:latin typeface="Verdana"/>
                <a:cs typeface="Verdana"/>
              </a:rPr>
              <a:t>Sentiment</a:t>
            </a:r>
            <a:r>
              <a:rPr sz="950" b="1" spc="-9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b="1" spc="-80" dirty="0">
                <a:solidFill>
                  <a:srgbClr val="334155"/>
                </a:solidFill>
                <a:latin typeface="Verdana"/>
                <a:cs typeface="Verdana"/>
              </a:rPr>
              <a:t>Analysis</a:t>
            </a:r>
            <a:r>
              <a:rPr sz="950" b="1" spc="-95" dirty="0">
                <a:solidFill>
                  <a:srgbClr val="334155"/>
                </a:solidFill>
                <a:latin typeface="Verdana"/>
                <a:cs typeface="Verdana"/>
              </a:rPr>
              <a:t> (NLP):</a:t>
            </a:r>
            <a:r>
              <a:rPr sz="950" b="1" spc="-10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Operates</a:t>
            </a:r>
            <a:r>
              <a:rPr sz="950" spc="-11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on</a:t>
            </a:r>
            <a:r>
              <a:rPr sz="950" spc="-11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34155"/>
                </a:solidFill>
                <a:latin typeface="Verdana"/>
                <a:cs typeface="Verdana"/>
              </a:rPr>
              <a:t>unstructured</a:t>
            </a:r>
            <a:r>
              <a:rPr sz="950" spc="-11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token</a:t>
            </a:r>
            <a:r>
              <a:rPr sz="950" spc="-11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sequences;</a:t>
            </a:r>
            <a:r>
              <a:rPr sz="950" spc="-11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evaluates subjective</a:t>
            </a:r>
            <a:r>
              <a:rPr sz="950" spc="-13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semantics</a:t>
            </a:r>
            <a:r>
              <a:rPr sz="950" spc="-13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50" dirty="0">
                <a:solidFill>
                  <a:srgbClr val="334155"/>
                </a:solidFill>
                <a:latin typeface="Verdana"/>
                <a:cs typeface="Verdana"/>
              </a:rPr>
              <a:t>via</a:t>
            </a:r>
            <a:r>
              <a:rPr sz="950" spc="-13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lexicon</a:t>
            </a:r>
            <a:r>
              <a:rPr sz="950" spc="-13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34155"/>
                </a:solidFill>
                <a:latin typeface="Verdana"/>
                <a:cs typeface="Verdana"/>
              </a:rPr>
              <a:t>polarity</a:t>
            </a:r>
            <a:r>
              <a:rPr sz="950" spc="-13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models.</a:t>
            </a:r>
            <a:r>
              <a:rPr sz="950" spc="500" dirty="0">
                <a:solidFill>
                  <a:srgbClr val="334155"/>
                </a:solidFill>
                <a:latin typeface="Verdana"/>
                <a:cs typeface="Verdana"/>
              </a:rPr>
              <a:t>                  </a:t>
            </a:r>
            <a:r>
              <a:rPr sz="950" b="1" spc="-75" dirty="0">
                <a:solidFill>
                  <a:srgbClr val="334155"/>
                </a:solidFill>
                <a:latin typeface="Verdana"/>
                <a:cs typeface="Verdana"/>
              </a:rPr>
              <a:t>Data</a:t>
            </a:r>
            <a:r>
              <a:rPr sz="950" b="1" spc="-10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b="1" spc="-60" dirty="0">
                <a:solidFill>
                  <a:srgbClr val="334155"/>
                </a:solidFill>
                <a:latin typeface="Verdana"/>
                <a:cs typeface="Verdana"/>
              </a:rPr>
              <a:t>Synergy:</a:t>
            </a:r>
            <a:r>
              <a:rPr sz="950" b="1" spc="-10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Demographic</a:t>
            </a:r>
            <a:r>
              <a:rPr sz="950" spc="-12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purchase</a:t>
            </a:r>
            <a:r>
              <a:rPr sz="950" spc="-114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probability</a:t>
            </a:r>
            <a:r>
              <a:rPr sz="950" spc="-114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combined</a:t>
            </a:r>
            <a:r>
              <a:rPr sz="950" spc="-12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334155"/>
                </a:solidFill>
                <a:latin typeface="Verdana"/>
                <a:cs typeface="Verdana"/>
              </a:rPr>
              <a:t>with</a:t>
            </a:r>
            <a:r>
              <a:rPr sz="950" spc="-114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34155"/>
                </a:solidFill>
                <a:latin typeface="Verdana"/>
                <a:cs typeface="Verdana"/>
              </a:rPr>
              <a:t>real-time</a:t>
            </a:r>
            <a:r>
              <a:rPr sz="950" spc="-114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customer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voice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34155"/>
                </a:solidFill>
                <a:latin typeface="Verdana"/>
                <a:cs typeface="Verdana"/>
              </a:rPr>
              <a:t>analytics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enables</a:t>
            </a:r>
            <a:r>
              <a:rPr sz="950" spc="-12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360°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customer</a:t>
            </a:r>
            <a:r>
              <a:rPr sz="950" spc="-12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intelligence.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6900" y="3823367"/>
            <a:ext cx="92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0284C7"/>
                </a:solidFill>
                <a:latin typeface="MS PGothic"/>
                <a:cs typeface="MS PGothic"/>
              </a:rPr>
              <a:t>◗</a:t>
            </a:r>
            <a:endParaRPr sz="1050">
              <a:latin typeface="MS PGothic"/>
              <a:cs typeface="MS P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900" y="4251992"/>
            <a:ext cx="92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0284C7"/>
                </a:solidFill>
                <a:latin typeface="MS PGothic"/>
                <a:cs typeface="MS PGothic"/>
              </a:rPr>
              <a:t>◗</a:t>
            </a:r>
            <a:endParaRPr sz="1050">
              <a:latin typeface="MS PGothic"/>
              <a:cs typeface="MS P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0000" y="3339193"/>
            <a:ext cx="5106670" cy="1310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marR="20955" indent="-171450">
              <a:lnSpc>
                <a:spcPct val="147900"/>
              </a:lnSpc>
              <a:spcBef>
                <a:spcPts val="90"/>
              </a:spcBef>
              <a:buSzPct val="110526"/>
              <a:buFont typeface="MS PGothic"/>
              <a:buChar char="◗"/>
              <a:tabLst>
                <a:tab pos="184150" algn="l"/>
                <a:tab pos="186055" algn="l"/>
              </a:tabLst>
            </a:pPr>
            <a:r>
              <a:rPr sz="950" dirty="0">
                <a:solidFill>
                  <a:srgbClr val="059668"/>
                </a:solidFill>
                <a:latin typeface="Verdana"/>
                <a:cs typeface="Verdana"/>
              </a:rPr>
              <a:t>	</a:t>
            </a:r>
            <a:r>
              <a:rPr sz="1425" b="1" spc="-52" baseline="2923" dirty="0">
                <a:solidFill>
                  <a:srgbClr val="334155"/>
                </a:solidFill>
                <a:latin typeface="Verdana"/>
                <a:cs typeface="Verdana"/>
              </a:rPr>
              <a:t>Scikit-</a:t>
            </a:r>
            <a:r>
              <a:rPr sz="1425" b="1" spc="-120" baseline="2923" dirty="0">
                <a:solidFill>
                  <a:srgbClr val="334155"/>
                </a:solidFill>
                <a:latin typeface="Verdana"/>
                <a:cs typeface="Verdana"/>
              </a:rPr>
              <a:t>Learn</a:t>
            </a:r>
            <a:r>
              <a:rPr sz="1425" b="1" spc="-165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="1" spc="-89" baseline="2923" dirty="0">
                <a:solidFill>
                  <a:srgbClr val="334155"/>
                </a:solidFill>
                <a:latin typeface="Verdana"/>
                <a:cs typeface="Verdana"/>
              </a:rPr>
              <a:t>Mastery:</a:t>
            </a:r>
            <a:r>
              <a:rPr sz="1425" b="1" spc="-172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44" baseline="2923" dirty="0">
                <a:solidFill>
                  <a:srgbClr val="334155"/>
                </a:solidFill>
                <a:latin typeface="Verdana"/>
                <a:cs typeface="Verdana"/>
              </a:rPr>
              <a:t>Data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pipelines,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baseline="2923" dirty="0">
                <a:solidFill>
                  <a:srgbClr val="334155"/>
                </a:solidFill>
                <a:latin typeface="Verdana"/>
                <a:cs typeface="Verdana"/>
              </a:rPr>
              <a:t>tree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52" baseline="2923" dirty="0">
                <a:solidFill>
                  <a:srgbClr val="334155"/>
                </a:solidFill>
                <a:latin typeface="Verdana"/>
                <a:cs typeface="Verdana"/>
              </a:rPr>
              <a:t>pruning,</a:t>
            </a:r>
            <a:r>
              <a:rPr sz="1425" spc="-187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30" baseline="2923" dirty="0">
                <a:solidFill>
                  <a:srgbClr val="334155"/>
                </a:solidFill>
                <a:latin typeface="Verdana"/>
                <a:cs typeface="Verdana"/>
              </a:rPr>
              <a:t>hyperparameter</a:t>
            </a:r>
            <a:r>
              <a:rPr sz="1425" spc="-179" baseline="2923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1425" spc="-15" baseline="2923" dirty="0">
                <a:solidFill>
                  <a:srgbClr val="334155"/>
                </a:solidFill>
                <a:latin typeface="Verdana"/>
                <a:cs typeface="Verdana"/>
              </a:rPr>
              <a:t>tuning </a:t>
            </a:r>
            <a:r>
              <a:rPr sz="950" spc="-30" dirty="0">
                <a:solidFill>
                  <a:srgbClr val="334155"/>
                </a:solidFill>
                <a:latin typeface="Verdana"/>
                <a:cs typeface="Verdana"/>
              </a:rPr>
              <a:t>(GridSearchCV),</a:t>
            </a:r>
            <a:r>
              <a:rPr sz="950" spc="-9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confusion</a:t>
            </a:r>
            <a:r>
              <a:rPr sz="950" spc="-9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55" dirty="0">
                <a:solidFill>
                  <a:srgbClr val="334155"/>
                </a:solidFill>
                <a:latin typeface="Verdana"/>
                <a:cs typeface="Verdana"/>
              </a:rPr>
              <a:t>matrix</a:t>
            </a:r>
            <a:r>
              <a:rPr sz="950" spc="-9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analytics.</a:t>
            </a:r>
            <a:r>
              <a:rPr sz="950" spc="500" dirty="0">
                <a:solidFill>
                  <a:srgbClr val="334155"/>
                </a:solidFill>
                <a:latin typeface="Verdana"/>
                <a:cs typeface="Verdana"/>
              </a:rPr>
              <a:t>                     </a:t>
            </a:r>
            <a:r>
              <a:rPr sz="950" b="1" spc="-85" dirty="0">
                <a:solidFill>
                  <a:srgbClr val="334155"/>
                </a:solidFill>
                <a:latin typeface="Verdana"/>
                <a:cs typeface="Verdana"/>
              </a:rPr>
              <a:t>NLP</a:t>
            </a:r>
            <a:r>
              <a:rPr sz="950" b="1" spc="-8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b="1" spc="-75" dirty="0">
                <a:solidFill>
                  <a:srgbClr val="334155"/>
                </a:solidFill>
                <a:latin typeface="Verdana"/>
                <a:cs typeface="Verdana"/>
              </a:rPr>
              <a:t>Feature Engineering:</a:t>
            </a:r>
            <a:r>
              <a:rPr sz="950" b="1" spc="-8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334155"/>
                </a:solidFill>
                <a:latin typeface="Verdana"/>
                <a:cs typeface="Verdana"/>
              </a:rPr>
              <a:t>Regular</a:t>
            </a:r>
            <a:r>
              <a:rPr sz="950" spc="-9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4155"/>
                </a:solidFill>
                <a:latin typeface="Verdana"/>
                <a:cs typeface="Verdana"/>
              </a:rPr>
              <a:t>expressions,</a:t>
            </a:r>
            <a:r>
              <a:rPr sz="950" spc="-9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stopword</a:t>
            </a:r>
            <a:r>
              <a:rPr sz="950" spc="-9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334155"/>
                </a:solidFill>
                <a:latin typeface="Verdana"/>
                <a:cs typeface="Verdana"/>
              </a:rPr>
              <a:t>curation,</a:t>
            </a:r>
            <a:r>
              <a:rPr sz="950" spc="-9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4155"/>
                </a:solidFill>
                <a:latin typeface="Verdana"/>
                <a:cs typeface="Verdana"/>
              </a:rPr>
              <a:t>tokenization,</a:t>
            </a:r>
            <a:r>
              <a:rPr sz="950" spc="-9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4155"/>
                </a:solidFill>
                <a:latin typeface="Verdana"/>
                <a:cs typeface="Verdana"/>
              </a:rPr>
              <a:t>and </a:t>
            </a:r>
            <a:r>
              <a:rPr sz="950" spc="-20" dirty="0">
                <a:solidFill>
                  <a:srgbClr val="334155"/>
                </a:solidFill>
                <a:latin typeface="Verdana"/>
                <a:cs typeface="Verdana"/>
              </a:rPr>
              <a:t>polarity</a:t>
            </a:r>
            <a:r>
              <a:rPr sz="950" spc="-12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scoring.</a:t>
            </a:r>
            <a:endParaRPr sz="950">
              <a:latin typeface="Verdana"/>
              <a:cs typeface="Verdana"/>
            </a:endParaRPr>
          </a:p>
          <a:p>
            <a:pPr marL="184150" marR="5080">
              <a:lnSpc>
                <a:spcPts val="1750"/>
              </a:lnSpc>
            </a:pPr>
            <a:r>
              <a:rPr sz="950" b="1" spc="-25" dirty="0">
                <a:solidFill>
                  <a:srgbClr val="334155"/>
                </a:solidFill>
                <a:latin typeface="Verdana"/>
                <a:cs typeface="Verdana"/>
              </a:rPr>
              <a:t>End-</a:t>
            </a:r>
            <a:r>
              <a:rPr sz="950" b="1" spc="-20" dirty="0">
                <a:solidFill>
                  <a:srgbClr val="334155"/>
                </a:solidFill>
                <a:latin typeface="Verdana"/>
                <a:cs typeface="Verdana"/>
              </a:rPr>
              <a:t>to-End</a:t>
            </a:r>
            <a:r>
              <a:rPr sz="950" b="1" spc="-114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b="1" spc="-55" dirty="0">
                <a:solidFill>
                  <a:srgbClr val="334155"/>
                </a:solidFill>
                <a:latin typeface="Verdana"/>
                <a:cs typeface="Verdana"/>
              </a:rPr>
              <a:t>Diagnostics:</a:t>
            </a:r>
            <a:r>
              <a:rPr sz="950" b="1" spc="-114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34155"/>
                </a:solidFill>
                <a:latin typeface="Verdana"/>
                <a:cs typeface="Verdana"/>
              </a:rPr>
              <a:t>Feature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importance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40" dirty="0">
                <a:solidFill>
                  <a:srgbClr val="334155"/>
                </a:solidFill>
                <a:latin typeface="Verdana"/>
                <a:cs typeface="Verdana"/>
              </a:rPr>
              <a:t>ranking,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class</a:t>
            </a:r>
            <a:r>
              <a:rPr sz="950" spc="-13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balance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35" dirty="0">
                <a:solidFill>
                  <a:srgbClr val="334155"/>
                </a:solidFill>
                <a:latin typeface="Verdana"/>
                <a:cs typeface="Verdana"/>
              </a:rPr>
              <a:t>evaluation,</a:t>
            </a:r>
            <a:r>
              <a:rPr sz="950" spc="-125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4155"/>
                </a:solidFill>
                <a:latin typeface="Verdana"/>
                <a:cs typeface="Verdana"/>
              </a:rPr>
              <a:t>and </a:t>
            </a:r>
            <a:r>
              <a:rPr sz="950" dirty="0">
                <a:solidFill>
                  <a:srgbClr val="334155"/>
                </a:solidFill>
                <a:latin typeface="Verdana"/>
                <a:cs typeface="Verdana"/>
              </a:rPr>
              <a:t>ROC-AUC</a:t>
            </a:r>
            <a:r>
              <a:rPr sz="950" spc="-3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4155"/>
                </a:solidFill>
                <a:latin typeface="Verdana"/>
                <a:cs typeface="Verdana"/>
              </a:rPr>
              <a:t>curve</a:t>
            </a:r>
            <a:r>
              <a:rPr sz="950" spc="-30" dirty="0">
                <a:solidFill>
                  <a:srgbClr val="334155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Verdana"/>
                <a:cs typeface="Verdana"/>
              </a:rPr>
              <a:t>interpretation.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50000" y="3823367"/>
            <a:ext cx="92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059668"/>
                </a:solidFill>
                <a:latin typeface="MS PGothic"/>
                <a:cs typeface="MS PGothic"/>
              </a:rPr>
              <a:t>◗</a:t>
            </a:r>
            <a:endParaRPr sz="1050">
              <a:latin typeface="MS PGothic"/>
              <a:cs typeface="MS P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50000" y="4251992"/>
            <a:ext cx="92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059668"/>
                </a:solidFill>
                <a:latin typeface="MS PGothic"/>
                <a:cs typeface="MS PGothic"/>
              </a:rPr>
              <a:t>◗</a:t>
            </a:r>
            <a:endParaRPr sz="1050">
              <a:latin typeface="MS PGothic"/>
              <a:cs typeface="MS PGothic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Dual-</a:t>
            </a:r>
            <a:r>
              <a:rPr spc="-100" dirty="0"/>
              <a:t>Domain</a:t>
            </a:r>
            <a:r>
              <a:rPr spc="-55" dirty="0"/>
              <a:t> </a:t>
            </a:r>
            <a:r>
              <a:rPr spc="-65" dirty="0"/>
              <a:t>Comparison</a:t>
            </a:r>
            <a:r>
              <a:rPr spc="-50" dirty="0"/>
              <a:t> </a:t>
            </a:r>
            <a:r>
              <a:rPr spc="-409" dirty="0"/>
              <a:t>&amp;</a:t>
            </a:r>
            <a:r>
              <a:rPr spc="-50" dirty="0"/>
              <a:t> </a:t>
            </a:r>
            <a:r>
              <a:rPr spc="-20" dirty="0"/>
              <a:t>Competencies</a:t>
            </a: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53575" y="6231900"/>
            <a:ext cx="2605648" cy="623524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0" y="257175"/>
            <a:ext cx="1381124" cy="219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" y="2435423"/>
            <a:ext cx="11334749" cy="9114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625" y="3461146"/>
            <a:ext cx="3676649" cy="15385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7675" y="3461146"/>
            <a:ext cx="3676649" cy="15385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86725" y="3461146"/>
            <a:ext cx="3676649" cy="15385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8625" y="6429375"/>
            <a:ext cx="11334749" cy="2285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7376" y="274764"/>
            <a:ext cx="97916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5" dirty="0">
                <a:solidFill>
                  <a:srgbClr val="0368A1"/>
                </a:solidFill>
                <a:latin typeface="Tahoma"/>
                <a:cs typeface="Tahoma"/>
              </a:rPr>
              <a:t>IILM</a:t>
            </a:r>
            <a:r>
              <a:rPr sz="950" b="1" spc="-35" dirty="0">
                <a:solidFill>
                  <a:srgbClr val="0368A1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368A1"/>
                </a:solidFill>
                <a:latin typeface="Tahoma"/>
                <a:cs typeface="Tahoma"/>
              </a:rPr>
              <a:t>UNIVERSITY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925" y="6498021"/>
            <a:ext cx="190373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Slide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70" dirty="0">
                <a:solidFill>
                  <a:srgbClr val="64738B"/>
                </a:solidFill>
                <a:latin typeface="Verdana"/>
                <a:cs typeface="Verdana"/>
              </a:rPr>
              <a:t>10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|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64738B"/>
                </a:solidFill>
                <a:latin typeface="Verdana"/>
                <a:cs typeface="Verdana"/>
              </a:rPr>
              <a:t>Conclusion</a:t>
            </a:r>
            <a:r>
              <a:rPr sz="850" spc="-14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90" dirty="0">
                <a:solidFill>
                  <a:srgbClr val="64738B"/>
                </a:solidFill>
                <a:latin typeface="Verdana"/>
                <a:cs typeface="Verdana"/>
              </a:rPr>
              <a:t>h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5" dirty="0">
                <a:solidFill>
                  <a:srgbClr val="64738B"/>
                </a:solidFill>
                <a:latin typeface="Verdana"/>
                <a:cs typeface="Verdana"/>
              </a:rPr>
              <a:t>Future</a:t>
            </a:r>
            <a:r>
              <a:rPr sz="850" spc="-135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64738B"/>
                </a:solidFill>
                <a:latin typeface="Verdana"/>
                <a:cs typeface="Verdana"/>
              </a:rPr>
              <a:t>Scope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40925" y="6498021"/>
            <a:ext cx="1060450" cy="288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95"/>
              </a:spcBef>
            </a:pPr>
            <a:r>
              <a:rPr sz="850" spc="-35" dirty="0">
                <a:solidFill>
                  <a:srgbClr val="64738B"/>
                </a:solidFill>
                <a:latin typeface="Verdana"/>
                <a:cs typeface="Verdana"/>
              </a:rPr>
              <a:t>Sakshi</a:t>
            </a:r>
            <a:r>
              <a:rPr sz="850" spc="-120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35" dirty="0">
                <a:solidFill>
                  <a:srgbClr val="64738B"/>
                </a:solidFill>
                <a:latin typeface="Verdana"/>
                <a:cs typeface="Verdana"/>
              </a:rPr>
              <a:t>Mishra</a:t>
            </a:r>
            <a:r>
              <a:rPr sz="850" spc="-114" dirty="0">
                <a:solidFill>
                  <a:srgbClr val="64738B"/>
                </a:solidFill>
                <a:latin typeface="Verdana"/>
                <a:cs typeface="Verdana"/>
              </a:rPr>
              <a:t> </a:t>
            </a:r>
            <a:r>
              <a:rPr sz="850" spc="-50" dirty="0">
                <a:solidFill>
                  <a:srgbClr val="64738B"/>
                </a:solidFill>
                <a:latin typeface="Verdana"/>
                <a:cs typeface="Verdana"/>
              </a:rPr>
              <a:t>• </a:t>
            </a:r>
            <a:r>
              <a:rPr sz="850" spc="-10" dirty="0">
                <a:solidFill>
                  <a:srgbClr val="64738B"/>
                </a:solidFill>
                <a:latin typeface="Verdana"/>
                <a:cs typeface="Verdana"/>
              </a:rPr>
              <a:t>25SCS1003001488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900" y="2516221"/>
            <a:ext cx="10720705" cy="68199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133350">
              <a:lnSpc>
                <a:spcPct val="140300"/>
              </a:lnSpc>
              <a:spcBef>
                <a:spcPts val="45"/>
              </a:spcBef>
            </a:pPr>
            <a:r>
              <a:rPr sz="1150" b="1" spc="-45" dirty="0">
                <a:solidFill>
                  <a:srgbClr val="0284C7"/>
                </a:solidFill>
                <a:latin typeface="Tahoma"/>
                <a:cs typeface="Tahoma"/>
              </a:rPr>
              <a:t>Internship</a:t>
            </a:r>
            <a:r>
              <a:rPr sz="1150" b="1" spc="-1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1150" b="1" spc="-25" dirty="0">
                <a:solidFill>
                  <a:srgbClr val="0284C7"/>
                </a:solidFill>
                <a:latin typeface="Tahoma"/>
                <a:cs typeface="Tahoma"/>
              </a:rPr>
              <a:t>Project</a:t>
            </a:r>
            <a:r>
              <a:rPr sz="1150" b="1" spc="-10" dirty="0">
                <a:solidFill>
                  <a:srgbClr val="0284C7"/>
                </a:solidFill>
                <a:latin typeface="Tahoma"/>
                <a:cs typeface="Tahoma"/>
              </a:rPr>
              <a:t> Summary</a:t>
            </a:r>
            <a:r>
              <a:rPr sz="1150" b="1" spc="500" dirty="0">
                <a:solidFill>
                  <a:srgbClr val="0284C7"/>
                </a:solidFill>
                <a:latin typeface="Tahoma"/>
                <a:cs typeface="Tahoma"/>
              </a:rPr>
              <a:t>                                                                         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Successfully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designed,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trained,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validated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two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complete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Python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data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science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pipelines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during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the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Prodigy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InfoTech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internship—achieving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85" dirty="0">
                <a:solidFill>
                  <a:srgbClr val="475568"/>
                </a:solidFill>
                <a:latin typeface="Verdana"/>
                <a:cs typeface="Verdana"/>
              </a:rPr>
              <a:t>89.4%</a:t>
            </a:r>
            <a:r>
              <a:rPr sz="950" b="1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60" dirty="0">
                <a:solidFill>
                  <a:srgbClr val="475568"/>
                </a:solidFill>
                <a:latin typeface="Verdana"/>
                <a:cs typeface="Verdana"/>
              </a:rPr>
              <a:t>classification</a:t>
            </a:r>
            <a:r>
              <a:rPr sz="950" b="1" spc="-10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b="1" spc="-50" dirty="0">
                <a:solidFill>
                  <a:srgbClr val="475568"/>
                </a:solidFill>
                <a:latin typeface="Verdana"/>
                <a:cs typeface="Verdana"/>
              </a:rPr>
              <a:t>accuracy</a:t>
            </a:r>
            <a:r>
              <a:rPr sz="950" b="1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on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the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Bank Marketing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benchmark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developing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an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automated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real-time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social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sentiment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evaluator.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0" y="2616398"/>
            <a:ext cx="133349" cy="14763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9600" y="3623071"/>
            <a:ext cx="342899" cy="3428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96900" y="3968743"/>
            <a:ext cx="3137535" cy="9182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44900"/>
              </a:lnSpc>
              <a:spcBef>
                <a:spcPts val="75"/>
              </a:spcBef>
            </a:pPr>
            <a:r>
              <a:rPr sz="1150" b="1" spc="-120" dirty="0">
                <a:solidFill>
                  <a:srgbClr val="0F2E5A"/>
                </a:solidFill>
                <a:latin typeface="Tahoma"/>
                <a:cs typeface="Tahoma"/>
              </a:rPr>
              <a:t>1.</a:t>
            </a:r>
            <a:r>
              <a:rPr sz="1150" b="1" spc="-6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40" dirty="0">
                <a:solidFill>
                  <a:srgbClr val="0F2E5A"/>
                </a:solidFill>
                <a:latin typeface="Tahoma"/>
                <a:cs typeface="Tahoma"/>
              </a:rPr>
              <a:t>Ensemble</a:t>
            </a: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ML</a:t>
            </a:r>
            <a:r>
              <a:rPr sz="1150" b="1" spc="-6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0F2E5A"/>
                </a:solidFill>
                <a:latin typeface="Tahoma"/>
                <a:cs typeface="Tahoma"/>
              </a:rPr>
              <a:t>Models</a:t>
            </a:r>
            <a:r>
              <a:rPr sz="1150" b="1" spc="500" dirty="0">
                <a:solidFill>
                  <a:srgbClr val="0F2E5A"/>
                </a:solidFill>
                <a:latin typeface="Tahoma"/>
                <a:cs typeface="Tahoma"/>
              </a:rPr>
              <a:t>          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Transition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from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standalone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Decision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40" dirty="0">
                <a:solidFill>
                  <a:srgbClr val="475568"/>
                </a:solidFill>
                <a:latin typeface="Verdana"/>
                <a:cs typeface="Verdana"/>
              </a:rPr>
              <a:t>Trees</a:t>
            </a:r>
            <a:r>
              <a:rPr sz="950" spc="-12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to</a:t>
            </a:r>
            <a:r>
              <a:rPr sz="950" spc="-114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Random Forests,</a:t>
            </a:r>
            <a:r>
              <a:rPr sz="9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XGBoost,</a:t>
            </a:r>
            <a:r>
              <a:rPr sz="9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50" spc="-1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LightGBM</a:t>
            </a:r>
            <a:r>
              <a:rPr sz="9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to</a:t>
            </a:r>
            <a:r>
              <a:rPr sz="950" spc="-1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minimize</a:t>
            </a:r>
            <a:r>
              <a:rPr sz="950" spc="-1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variance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50" spc="-5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Verdana"/>
                <a:cs typeface="Verdana"/>
              </a:rPr>
              <a:t>boost</a:t>
            </a:r>
            <a:r>
              <a:rPr sz="950" spc="-5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Verdana"/>
                <a:cs typeface="Verdana"/>
              </a:rPr>
              <a:t>ROC-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AUC.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8650" y="3623071"/>
            <a:ext cx="342899" cy="3428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425950" y="3968743"/>
            <a:ext cx="3107690" cy="91821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50" b="1" spc="-40" dirty="0">
                <a:solidFill>
                  <a:srgbClr val="0F2E5A"/>
                </a:solidFill>
                <a:latin typeface="Tahoma"/>
                <a:cs typeface="Tahoma"/>
              </a:rPr>
              <a:t>2.</a:t>
            </a:r>
            <a:r>
              <a:rPr sz="1150" b="1" spc="-9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Transformer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5" dirty="0">
                <a:solidFill>
                  <a:srgbClr val="0F2E5A"/>
                </a:solidFill>
                <a:latin typeface="Tahoma"/>
                <a:cs typeface="Tahoma"/>
              </a:rPr>
              <a:t>NLP</a:t>
            </a:r>
            <a:endParaRPr sz="1150">
              <a:latin typeface="Tahoma"/>
              <a:cs typeface="Tahoma"/>
            </a:endParaRPr>
          </a:p>
          <a:p>
            <a:pPr marL="12700" marR="5080" algn="just">
              <a:lnSpc>
                <a:spcPts val="1700"/>
              </a:lnSpc>
              <a:spcBef>
                <a:spcPts val="55"/>
              </a:spcBef>
            </a:pP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Deploy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fine-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tuned</a:t>
            </a:r>
            <a:r>
              <a:rPr sz="950" spc="-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BERT/RoBERTa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models</a:t>
            </a:r>
            <a:r>
              <a:rPr sz="950" spc="-4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50" dirty="0">
                <a:solidFill>
                  <a:srgbClr val="475568"/>
                </a:solidFill>
                <a:latin typeface="Verdana"/>
                <a:cs typeface="Verdana"/>
              </a:rPr>
              <a:t>to</a:t>
            </a:r>
            <a:r>
              <a:rPr sz="950" spc="-3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capture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contextual</a:t>
            </a:r>
            <a:r>
              <a:rPr sz="950" spc="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semantics,</a:t>
            </a:r>
            <a:r>
              <a:rPr sz="950" spc="1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sarcasm,</a:t>
            </a:r>
            <a:r>
              <a:rPr sz="950" spc="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45" dirty="0">
                <a:solidFill>
                  <a:srgbClr val="475568"/>
                </a:solidFill>
                <a:latin typeface="Verdana"/>
                <a:cs typeface="Verdana"/>
              </a:rPr>
              <a:t>and</a:t>
            </a:r>
            <a:r>
              <a:rPr sz="950" spc="1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domain-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specific </a:t>
            </a:r>
            <a:r>
              <a:rPr sz="950" spc="-25" dirty="0">
                <a:solidFill>
                  <a:srgbClr val="475568"/>
                </a:solidFill>
                <a:latin typeface="Verdana"/>
                <a:cs typeface="Verdana"/>
              </a:rPr>
              <a:t>financial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sentiment.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67700" y="3623071"/>
            <a:ext cx="342899" cy="3428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255000" y="3968743"/>
            <a:ext cx="2806065" cy="9182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44900"/>
              </a:lnSpc>
              <a:spcBef>
                <a:spcPts val="75"/>
              </a:spcBef>
            </a:pPr>
            <a:r>
              <a:rPr sz="1150" b="1" spc="-35" dirty="0">
                <a:solidFill>
                  <a:srgbClr val="0F2E5A"/>
                </a:solidFill>
                <a:latin typeface="Tahoma"/>
                <a:cs typeface="Tahoma"/>
              </a:rPr>
              <a:t>3.</a:t>
            </a:r>
            <a:r>
              <a:rPr sz="1150" b="1" spc="-50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60" dirty="0">
                <a:solidFill>
                  <a:srgbClr val="0F2E5A"/>
                </a:solidFill>
                <a:latin typeface="Tahoma"/>
                <a:cs typeface="Tahoma"/>
              </a:rPr>
              <a:t>Real-Time</a:t>
            </a:r>
            <a:r>
              <a:rPr sz="1150" b="1" spc="-5" dirty="0">
                <a:solidFill>
                  <a:srgbClr val="0F2E5A"/>
                </a:solidFill>
                <a:latin typeface="Tahoma"/>
                <a:cs typeface="Tahoma"/>
              </a:rPr>
              <a:t> </a:t>
            </a:r>
            <a:r>
              <a:rPr sz="1150" b="1" spc="-20" dirty="0">
                <a:solidFill>
                  <a:srgbClr val="0F2E5A"/>
                </a:solidFill>
                <a:latin typeface="Tahoma"/>
                <a:cs typeface="Tahoma"/>
              </a:rPr>
              <a:t>MLOps</a:t>
            </a:r>
            <a:r>
              <a:rPr sz="1150" b="1" spc="500" dirty="0">
                <a:solidFill>
                  <a:srgbClr val="0F2E5A"/>
                </a:solidFill>
                <a:latin typeface="Tahoma"/>
                <a:cs typeface="Tahoma"/>
              </a:rPr>
              <a:t>        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Package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475568"/>
                </a:solidFill>
                <a:latin typeface="Verdana"/>
                <a:cs typeface="Verdana"/>
              </a:rPr>
              <a:t>models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into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40" dirty="0">
                <a:solidFill>
                  <a:srgbClr val="475568"/>
                </a:solidFill>
                <a:latin typeface="Verdana"/>
                <a:cs typeface="Verdana"/>
              </a:rPr>
              <a:t>RESTful</a:t>
            </a:r>
            <a:r>
              <a:rPr sz="950" spc="-10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FastAPI</a:t>
            </a:r>
            <a:r>
              <a:rPr sz="950" spc="-11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endpoints integrated</a:t>
            </a:r>
            <a:r>
              <a:rPr sz="950" spc="-130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with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a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475568"/>
                </a:solidFill>
                <a:latin typeface="Verdana"/>
                <a:cs typeface="Verdana"/>
              </a:rPr>
              <a:t>real-time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475568"/>
                </a:solidFill>
                <a:latin typeface="Verdana"/>
                <a:cs typeface="Verdana"/>
              </a:rPr>
              <a:t>Streamlit</a:t>
            </a:r>
            <a:r>
              <a:rPr sz="950" spc="-125" dirty="0">
                <a:solidFill>
                  <a:srgbClr val="475568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Verdana"/>
                <a:cs typeface="Verdana"/>
              </a:rPr>
              <a:t>executive dashboard.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5325" y="3718321"/>
            <a:ext cx="171449" cy="1523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33900" y="3718321"/>
            <a:ext cx="152399" cy="1523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353425" y="3718321"/>
            <a:ext cx="171449" cy="152399"/>
          </a:xfrm>
          <a:prstGeom prst="rect">
            <a:avLst/>
          </a:prstGeom>
        </p:spPr>
      </p:pic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Conclusion</a:t>
            </a:r>
            <a:r>
              <a:rPr spc="-65" dirty="0"/>
              <a:t> </a:t>
            </a:r>
            <a:r>
              <a:rPr spc="-409" dirty="0"/>
              <a:t>&amp;</a:t>
            </a:r>
            <a:r>
              <a:rPr spc="-60" dirty="0"/>
              <a:t> Future Research </a:t>
            </a:r>
            <a:r>
              <a:rPr spc="-10" dirty="0"/>
              <a:t>Scope</a:t>
            </a:r>
          </a:p>
        </p:txBody>
      </p: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553575" y="6231900"/>
            <a:ext cx="2605648" cy="623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1393</Words>
  <Application>Microsoft Office PowerPoint</Application>
  <PresentationFormat>Widescreen</PresentationFormat>
  <Paragraphs>202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MS PGothic</vt:lpstr>
      <vt:lpstr>Arial</vt:lpstr>
      <vt:lpstr>Courier New</vt:lpstr>
      <vt:lpstr>Tahoma</vt:lpstr>
      <vt:lpstr>Times New Roman</vt:lpstr>
      <vt:lpstr>Verdana</vt:lpstr>
      <vt:lpstr>Office Theme</vt:lpstr>
      <vt:lpstr>Customer Purchase Prediction &amp; Social Media Sentiment Analysis</vt:lpstr>
      <vt:lpstr>Project Overview &amp; Data Stack</vt:lpstr>
      <vt:lpstr>Task 01 Decision Tree Classifier: Theory &amp; Splifting</vt:lpstr>
      <vt:lpstr>Task 01 Bank Marketing Dataset &amp; Data Pipeline</vt:lpstr>
      <vt:lpstr>Task 01 Decision Tree: Training &amp; Feature Importance</vt:lpstr>
      <vt:lpstr>Task 02 Sentiment Analysis: Concept &amp; NLP Foundations</vt:lpstr>
      <vt:lpstr>Task 02 Social Media Text Normalization Pipeline</vt:lpstr>
      <vt:lpstr>Task 02 Sentiment Visual Analytics &amp; Empirical Results</vt:lpstr>
      <vt:lpstr>Dual-Domain Comparison &amp; Competencies</vt:lpstr>
      <vt:lpstr>Conclusion &amp; Future Research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 Singh</cp:lastModifiedBy>
  <cp:revision>1</cp:revision>
  <dcterms:created xsi:type="dcterms:W3CDTF">2026-08-30T09:15:21Z</dcterms:created>
  <dcterms:modified xsi:type="dcterms:W3CDTF">2026-08-30T09:18:16Z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2026-08-30T00:00:00Z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2026-08-30T00:00:00Z</vt:filetime>
  </property>
</Properties>
</file>